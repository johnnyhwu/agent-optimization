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開場（約30秒）。
這個 sprint 我大部分時間花在讓 agent server 的 HTTP 介面變得 general，所以今天主要想講的是：你們各自的 domain agent 要怎麼接上這個系統。
整場大概 10 分鐘，Part 1 佔 8 分鐘，Part 2 兩頁快速帶過。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這頁大概 1 分鐘。
先建立整體圖像：左邊是這個系統的三個功能，右邊是各位自己的 domain agent，系統完全不碰你的 model、tool、prompt，它是個 black box。
中間唯一需要你寫的，就是一個 HTTP server，上面兩個 endpoint。
另外提一下 trace：agent 要用我們給的 trace_id 寫 Langfuse，這是後面 optimization 的前提，等一下會再講。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 1 分鐘。
重點一句話：只有 chat endpoint 是必須的，而且它就是一個標準的 OpenAI compatible chat completions endpoint。大部分 agent 前面本來就有一個，所以你今天其實就可以被 evaluate。
skills endpoint 是選配的，它讓系統知道你身上現在有哪些 skill 檔案。
另外強調：這是兩個各自獨立的絕對 URL，我們不會幫你組路徑，你要放在不同 host、不同 gateway 後面都可以。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 2 分鐘，這是 Part 1 的核心頁之一。
整個 request 就是標準 OpenAI 格式，唯一的差別是多一個 top-level key: skill_studio。為什麼不用 metadata？因為 OpenAI 的 metadata 限制 16 組短字串，skill 檔案塞不進去，嚴格的 gateway 還會直接擋掉。
三個欄位要特別講：
1) timeout_s：這是我們給你的預算，請照著做，但自己還是要有上限，不然一個 hang 住的 request 會佔住 worker。
2) trace_id：這個最 load-bearing。trace id 是我們先產生再送給你的，你要拿它去寫 Langfuse；如果你自己產生，chat endpoint 看起來一切正常，但 step-by-step、失敗診斷、optimizer 全部會靜悄悄地失效。
3) skills：這是 override，等一下第三個 level 會再提。注意它有三種狀態，空的 {} 是「這次不要用任何 skill」，不是「用你自己的」。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 1.5 分鐘。
skills endpoint 本身很單純：回一個 flat 的 {路徑: 全文} map，加一個 version。
四個雷區：不要做成樹狀、不要截斷檔案內容（開發者會編輯後送回來，截斷等於幫他刪檔）、空的 {} 跟壞掉要分得開、version 不要回固定值（回固定值比不回還糟，因為兩個檢查都失效但看起來有在動）。
下半頁是 override 的三種狀態，這個是 optimization 整個功能的基礎。特別提醒：程式要判斷 key 在不在，不要用 if (skills)，因為 {} 是 falsy，會把「不要用任何 skill」默默變成「用你自己的」。
路徑安全那行如果時間不夠可以跳過，文件裡有。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 1.5 分鐘，這頁是 Part 1 想讓大家帶走的結論。
不要覺得這個 HTTP server 一定要做到很複雜，它可以分三個 level，每一級解鎖一塊功能：
Level 1：只有 OpenAI compatible 的 chat endpoint，就能用 evaluation，以及部分 playground。
Level 2：加上 skills endpoint，並且在 chat endpoint 支援 skill override，就能用完整的 playground。
Level 3：再加上把 trace 寫進 Langfuse（用我們給的 trace id），就能跑 optimization。
注意 level 3 不是第三個 endpoint，它是 chat endpoint 的兩個行為；系統在 optimization 開跑前會先驗這兩件事，不然跑一小時只會得到一條平的曲線。
建議大家就從 level 1 開始，先被 evaluate 起來再說。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 1.5 分鐘，講完就切到系統上 demo。
這頁的重點：不要自己從零看規格寫。文件是刻意寫成自給自足的——不需要讀我們的 codebase，最後還附了一個最小的 reference implementation 和一份 acceptance checklist（curl 可以直接跑）。
所以最快的路徑是：把這一頁餵給你的 coding assistant，讓它幫你把 server 實作出來。
然後切到系統：先秀 Agent Server → API reference 這頁，捲一下目錄讓大家看到涵蓋範圍；再切到旁邊的 Test your server，說明它會送一個帶 skill override 的真實問題過去，回來告訴你你實際上做到第幾級。
最後補一句：如果文件有讓你需要猜的地方，那是文件的 bug，直接跟我說。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 1 分鐘。
這是 Part 2 的第一件事：這個系統除了評 agent 的回答，我們也拿它來評 agent「選 skill」的能力。
做法很土但有效：把 evaluation question 從「台積電明年產能是多少」改寫成「請回答下面這個問題你會選擇哪一個 skill：台積電明年產能是多少」。
這樣現有的 evaluation 功能完全不用改就能用——一樣的上傳格式、一樣的 run、一樣的 judge。
而且 ground truth 本來就在：eval set 的每一題本來就有 skill 這個欄位。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約 1 分鐘，快速帶過即可（時間不夠可以只講左半邊然後跳到最後一頁）。
我們原本想直接沿用 SkillOpt 的想法，也就是 isolation mode 那一套，只是把目標換成 skill description。結果發現行不通，description 很難收斂。
後來想清楚原因：optimize 一個 skill body，等於在調一個參數量很大的模型，每次改一點，loss 可以沿著 gradient 慢慢往下走。但 description 常常只有兩三句話，representation space 很小，改一點就等於整個重寫，loss 就在 loss surface 上大幅震盪，收不起來。
所以現在做法比較樸素：用更大的 batch 加上 stratified sampling，算一個比較 global、而且同時考慮到所有 skill 的 gradient，避免被某一個 skill 帶偏。
但 batch 一大，optimizer 的 context window 就塞不下每題的 trace，所以我們改送一個 digest：每個 skill 的 confusion matrix，加上 agent 自己的 setup。
這邊實驗還在跑，還沒有數字，下個 sprint 再跟大家報告。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收尾，約 30 秒。
重申一次最重要的話：從 level 1 開始就好，門檻比大家想像的低——如果你前面已經有一個 OpenAI compatible 的 endpoint，只要照著文件補上 timeout_s 跟沿用我們的 trace id，這週就可以被 evaluate。
文件是給機器讀的，丟給你的 coding assistant；接好之後用 Test your server 驗一下你到第幾級。
最後拜託一件事：文件裡任何讓你需要猜的地方都跟我說，那是文件的 bug，我修起來最便宜。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640080" y="1828800"/>
            <a:ext cx="10911535"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Arial" pitchFamily="34" charset="0"/>
                <a:ea typeface="Arial" pitchFamily="34" charset="-122"/>
                <a:cs typeface="Arial" pitchFamily="34" charset="-120"/>
              </a:rPr>
              <a:t>SPRINT DEMO</a:t>
            </a:r>
            <a:endParaRPr lang="en-US" sz="1200" dirty="0"/>
          </a:p>
        </p:txBody>
      </p:sp>
      <p:sp>
        <p:nvSpPr>
          <p:cNvPr id="3" name="Text 1"/>
          <p:cNvSpPr txBox="1"/>
          <p:nvPr/>
        </p:nvSpPr>
        <p:spPr>
          <a:xfrm>
            <a:off x="640080" y="2194560"/>
            <a:ext cx="8778240" cy="173736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Arial" pitchFamily="34" charset="0"/>
                <a:ea typeface="Arial" pitchFamily="34" charset="-122"/>
                <a:cs typeface="Arial" pitchFamily="34" charset="-120"/>
              </a:rPr>
              <a:t>Plugging your domain agent</a:t>
            </a:r>
            <a:endParaRPr lang="en-US" sz="4000" dirty="0"/>
          </a:p>
          <a:p>
            <a:pPr indent="0" marL="0">
              <a:lnSpc>
                <a:spcPts val="4600"/>
              </a:lnSpc>
              <a:buNone/>
            </a:pPr>
            <a:r>
              <a:rPr lang="en-US" sz="4000" b="1" dirty="0">
                <a:solidFill>
                  <a:srgbClr val="FFFFFF"/>
                </a:solidFill>
                <a:latin typeface="Arial" pitchFamily="34" charset="0"/>
                <a:ea typeface="Arial" pitchFamily="34" charset="-122"/>
                <a:cs typeface="Arial" pitchFamily="34" charset="-120"/>
              </a:rPr>
              <a:t>into the platform</a:t>
            </a:r>
            <a:endParaRPr lang="en-US" sz="4000" dirty="0"/>
          </a:p>
        </p:txBody>
      </p:sp>
      <p:sp>
        <p:nvSpPr>
          <p:cNvPr id="4" name="Text 2"/>
          <p:cNvSpPr txBox="1"/>
          <p:nvPr/>
        </p:nvSpPr>
        <p:spPr>
          <a:xfrm>
            <a:off x="640080" y="4069080"/>
            <a:ext cx="8961120" cy="457200"/>
          </a:xfrm>
          <a:prstGeom prst="rect">
            <a:avLst/>
          </a:prstGeom>
          <a:noFill/>
          <a:ln/>
        </p:spPr>
        <p:txBody>
          <a:bodyPr wrap="square" lIns="0" tIns="0" rIns="0" bIns="0" rtlCol="0" anchor="ctr"/>
          <a:lstStyle/>
          <a:p>
            <a:pPr indent="0" marL="0">
              <a:buNone/>
            </a:pPr>
            <a:r>
              <a:rPr lang="en-US" sz="1550" dirty="0">
                <a:solidFill>
                  <a:srgbClr val="A8B4BE"/>
                </a:solidFill>
                <a:latin typeface="Calibri" pitchFamily="34" charset="0"/>
                <a:ea typeface="Calibri" pitchFamily="34" charset="-122"/>
                <a:cs typeface="Calibri" pitchFamily="34" charset="-120"/>
              </a:rPr>
              <a:t>Two endpoints, three levels of integration — and what we learned pointing the eval loop at skill selection.</a:t>
            </a:r>
            <a:endParaRPr lang="en-US" sz="1550" dirty="0"/>
          </a:p>
        </p:txBody>
      </p:sp>
      <p:sp>
        <p:nvSpPr>
          <p:cNvPr id="5" name="Shape 3"/>
          <p:cNvSpPr/>
          <p:nvPr/>
        </p:nvSpPr>
        <p:spPr>
          <a:xfrm>
            <a:off x="640080" y="4892040"/>
            <a:ext cx="310896" cy="310896"/>
          </a:xfrm>
          <a:prstGeom prst="roundRect">
            <a:avLst>
              <a:gd name="adj" fmla="val 29412"/>
            </a:avLst>
          </a:prstGeom>
          <a:solidFill>
            <a:srgbClr val="028090"/>
          </a:solidFill>
          <a:ln w="12700">
            <a:solidFill>
              <a:srgbClr val="028090"/>
            </a:solidFill>
            <a:prstDash val="solid"/>
          </a:ln>
        </p:spPr>
      </p:sp>
      <p:sp>
        <p:nvSpPr>
          <p:cNvPr id="6" name="Text 4"/>
          <p:cNvSpPr txBox="1"/>
          <p:nvPr/>
        </p:nvSpPr>
        <p:spPr>
          <a:xfrm>
            <a:off x="640080" y="48920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115568" y="4892040"/>
            <a:ext cx="5943600" cy="310896"/>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HTTP seam — how your agent connects</a:t>
            </a:r>
            <a:endParaRPr lang="en-US" sz="1350" dirty="0"/>
          </a:p>
        </p:txBody>
      </p:sp>
      <p:sp>
        <p:nvSpPr>
          <p:cNvPr id="8" name="Shape 6"/>
          <p:cNvSpPr/>
          <p:nvPr/>
        </p:nvSpPr>
        <p:spPr>
          <a:xfrm>
            <a:off x="640080" y="5349240"/>
            <a:ext cx="310896" cy="310896"/>
          </a:xfrm>
          <a:prstGeom prst="roundRect">
            <a:avLst>
              <a:gd name="adj" fmla="val 29412"/>
            </a:avLst>
          </a:prstGeom>
          <a:solidFill>
            <a:srgbClr val="2F3B47"/>
          </a:solidFill>
          <a:ln w="12700">
            <a:solidFill>
              <a:srgbClr val="2F3B47"/>
            </a:solidFill>
            <a:prstDash val="solid"/>
          </a:ln>
        </p:spPr>
      </p:sp>
      <p:sp>
        <p:nvSpPr>
          <p:cNvPr id="9" name="Text 7"/>
          <p:cNvSpPr txBox="1"/>
          <p:nvPr/>
        </p:nvSpPr>
        <p:spPr>
          <a:xfrm>
            <a:off x="640080" y="53492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0" name="Text 8"/>
          <p:cNvSpPr txBox="1"/>
          <p:nvPr/>
        </p:nvSpPr>
        <p:spPr>
          <a:xfrm>
            <a:off x="1115568" y="5349240"/>
            <a:ext cx="5943600" cy="310896"/>
          </a:xfrm>
          <a:prstGeom prst="rect">
            <a:avLst/>
          </a:prstGeom>
          <a:noFill/>
          <a:ln/>
        </p:spPr>
        <p:txBody>
          <a:bodyPr wrap="square" lIns="0" tIns="0" rIns="0" bIns="0" rtlCol="0" anchor="ctr"/>
          <a:lstStyle/>
          <a:p>
            <a:pPr indent="0" marL="0">
              <a:buNone/>
            </a:pPr>
            <a:r>
              <a:rPr lang="en-US" sz="1350" dirty="0">
                <a:solidFill>
                  <a:srgbClr val="A8B4BE"/>
                </a:solidFill>
                <a:latin typeface="Calibri" pitchFamily="34" charset="0"/>
                <a:ea typeface="Calibri" pitchFamily="34" charset="-122"/>
                <a:cs typeface="Calibri" pitchFamily="34" charset="-120"/>
              </a:rPr>
              <a:t>Evaluating skill selection, and optimizing it</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Arial" pitchFamily="34" charset="0"/>
                <a:ea typeface="Arial" pitchFamily="34" charset="-122"/>
                <a:cs typeface="Arial" pitchFamily="34" charset="-120"/>
              </a:rPr>
              <a:t>PART 1 · THE SEAM</a:t>
            </a:r>
            <a:endParaRPr lang="en-US" sz="1100" dirty="0"/>
          </a:p>
        </p:txBody>
      </p:sp>
      <p:sp>
        <p:nvSpPr>
          <p:cNvPr id="3" name="Text 1"/>
          <p:cNvSpPr txBox="1"/>
          <p:nvPr/>
        </p:nvSpPr>
        <p:spPr>
          <a:xfrm>
            <a:off x="640080" y="658368"/>
            <a:ext cx="10911535"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Where your agent meets the platform</a:t>
            </a:r>
            <a:endParaRPr lang="en-US" sz="3000" dirty="0"/>
          </a:p>
        </p:txBody>
      </p:sp>
      <p:sp>
        <p:nvSpPr>
          <p:cNvPr id="4" name="Shape 2"/>
          <p:cNvSpPr/>
          <p:nvPr/>
        </p:nvSpPr>
        <p:spPr>
          <a:xfrm>
            <a:off x="640080" y="1600200"/>
            <a:ext cx="3931920" cy="3429000"/>
          </a:xfrm>
          <a:prstGeom prst="roundRect">
            <a:avLst>
              <a:gd name="adj" fmla="val 2133"/>
            </a:avLst>
          </a:prstGeom>
          <a:solidFill>
            <a:srgbClr val="F1F4F6"/>
          </a:solidFill>
          <a:ln w="12700">
            <a:solidFill>
              <a:srgbClr val="E4EAEE"/>
            </a:solidFill>
            <a:prstDash val="solid"/>
          </a:ln>
        </p:spPr>
      </p:sp>
      <p:sp>
        <p:nvSpPr>
          <p:cNvPr id="5" name="Text 3"/>
          <p:cNvSpPr txBox="1"/>
          <p:nvPr/>
        </p:nvSpPr>
        <p:spPr>
          <a:xfrm>
            <a:off x="896112" y="1810512"/>
            <a:ext cx="3474720" cy="256032"/>
          </a:xfrm>
          <a:prstGeom prst="rect">
            <a:avLst/>
          </a:prstGeom>
          <a:noFill/>
          <a:ln/>
        </p:spPr>
        <p:txBody>
          <a:bodyPr wrap="square" lIns="0" tIns="0" rIns="0" bIns="0" rtlCol="0" anchor="ctr"/>
          <a:lstStyle/>
          <a:p>
            <a:pPr indent="0" marL="0">
              <a:buNone/>
            </a:pPr>
            <a:r>
              <a:rPr lang="en-US" sz="1050" b="1" spc="200" kern="0" dirty="0">
                <a:solidFill>
                  <a:srgbClr val="028090"/>
                </a:solidFill>
                <a:latin typeface="Arial" pitchFamily="34" charset="0"/>
                <a:ea typeface="Arial" pitchFamily="34" charset="-122"/>
                <a:cs typeface="Arial" pitchFamily="34" charset="-120"/>
              </a:rPr>
              <a:t>THE PLATFORM</a:t>
            </a:r>
            <a:endParaRPr lang="en-US" sz="1050" dirty="0"/>
          </a:p>
        </p:txBody>
      </p:sp>
      <p:sp>
        <p:nvSpPr>
          <p:cNvPr id="6" name="Shape 4"/>
          <p:cNvSpPr/>
          <p:nvPr/>
        </p:nvSpPr>
        <p:spPr>
          <a:xfrm>
            <a:off x="896112" y="2212848"/>
            <a:ext cx="3419856" cy="777240"/>
          </a:xfrm>
          <a:prstGeom prst="roundRect">
            <a:avLst>
              <a:gd name="adj" fmla="val 9412"/>
            </a:avLst>
          </a:prstGeom>
          <a:solidFill>
            <a:srgbClr val="FFFFFF"/>
          </a:solidFill>
          <a:ln w="12700">
            <a:solidFill>
              <a:srgbClr val="E4EAEE"/>
            </a:solidFill>
            <a:prstDash val="solid"/>
          </a:ln>
        </p:spPr>
      </p:sp>
      <p:sp>
        <p:nvSpPr>
          <p:cNvPr id="7" name="Text 5"/>
          <p:cNvSpPr txBox="1"/>
          <p:nvPr/>
        </p:nvSpPr>
        <p:spPr>
          <a:xfrm>
            <a:off x="1060704" y="2304288"/>
            <a:ext cx="3108960" cy="237744"/>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Evaluation</a:t>
            </a:r>
            <a:endParaRPr lang="en-US" sz="1300" dirty="0"/>
          </a:p>
        </p:txBody>
      </p:sp>
      <p:sp>
        <p:nvSpPr>
          <p:cNvPr id="8" name="Text 6"/>
          <p:cNvSpPr txBox="1"/>
          <p:nvPr/>
        </p:nvSpPr>
        <p:spPr>
          <a:xfrm>
            <a:off x="1060704" y="2542032"/>
            <a:ext cx="3108960" cy="384048"/>
          </a:xfrm>
          <a:prstGeom prst="rect">
            <a:avLst/>
          </a:prstGeom>
          <a:noFill/>
          <a:ln/>
        </p:spPr>
        <p:txBody>
          <a:bodyPr wrap="square" lIns="0" tIns="0" rIns="0" bIns="0" rtlCol="0" anchor="ctr"/>
          <a:lstStyle/>
          <a:p>
            <a:pPr indent="0" marL="0">
              <a:buNone/>
            </a:pPr>
            <a:r>
              <a:rPr lang="en-US" sz="1050" dirty="0">
                <a:solidFill>
                  <a:srgbClr val="6B7784"/>
                </a:solidFill>
                <a:latin typeface="Calibri" pitchFamily="34" charset="0"/>
                <a:ea typeface="Calibri" pitchFamily="34" charset="-122"/>
                <a:cs typeface="Calibri" pitchFamily="34" charset="-120"/>
              </a:rPr>
              <a:t>run an eval set, judge the answers, diagnose the failing span</a:t>
            </a:r>
            <a:endParaRPr lang="en-US" sz="1050" dirty="0"/>
          </a:p>
        </p:txBody>
      </p:sp>
      <p:sp>
        <p:nvSpPr>
          <p:cNvPr id="9" name="Shape 7"/>
          <p:cNvSpPr/>
          <p:nvPr/>
        </p:nvSpPr>
        <p:spPr>
          <a:xfrm>
            <a:off x="896112" y="3127248"/>
            <a:ext cx="3419856" cy="777240"/>
          </a:xfrm>
          <a:prstGeom prst="roundRect">
            <a:avLst>
              <a:gd name="adj" fmla="val 9412"/>
            </a:avLst>
          </a:prstGeom>
          <a:solidFill>
            <a:srgbClr val="FFFFFF"/>
          </a:solidFill>
          <a:ln w="12700">
            <a:solidFill>
              <a:srgbClr val="E4EAEE"/>
            </a:solidFill>
            <a:prstDash val="solid"/>
          </a:ln>
        </p:spPr>
      </p:sp>
      <p:sp>
        <p:nvSpPr>
          <p:cNvPr id="10" name="Text 8"/>
          <p:cNvSpPr txBox="1"/>
          <p:nvPr/>
        </p:nvSpPr>
        <p:spPr>
          <a:xfrm>
            <a:off x="1060704" y="3218688"/>
            <a:ext cx="3108960" cy="237744"/>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Playground</a:t>
            </a:r>
            <a:endParaRPr lang="en-US" sz="1300" dirty="0"/>
          </a:p>
        </p:txBody>
      </p:sp>
      <p:sp>
        <p:nvSpPr>
          <p:cNvPr id="11" name="Text 9"/>
          <p:cNvSpPr txBox="1"/>
          <p:nvPr/>
        </p:nvSpPr>
        <p:spPr>
          <a:xfrm>
            <a:off x="1060704" y="3456432"/>
            <a:ext cx="3108960" cy="384048"/>
          </a:xfrm>
          <a:prstGeom prst="rect">
            <a:avLst/>
          </a:prstGeom>
          <a:noFill/>
          <a:ln/>
        </p:spPr>
        <p:txBody>
          <a:bodyPr wrap="square" lIns="0" tIns="0" rIns="0" bIns="0" rtlCol="0" anchor="ctr"/>
          <a:lstStyle/>
          <a:p>
            <a:pPr indent="0" marL="0">
              <a:buNone/>
            </a:pPr>
            <a:r>
              <a:rPr lang="en-US" sz="1050" dirty="0">
                <a:solidFill>
                  <a:srgbClr val="6B7784"/>
                </a:solidFill>
                <a:latin typeface="Calibri" pitchFamily="34" charset="0"/>
                <a:ea typeface="Calibri" pitchFamily="34" charset="-122"/>
                <a:cs typeface="Calibri" pitchFamily="34" charset="-120"/>
              </a:rPr>
              <a:t>edit a copy of the skill files, ask one question at a time</a:t>
            </a:r>
            <a:endParaRPr lang="en-US" sz="1050" dirty="0"/>
          </a:p>
        </p:txBody>
      </p:sp>
      <p:sp>
        <p:nvSpPr>
          <p:cNvPr id="12" name="Shape 10"/>
          <p:cNvSpPr/>
          <p:nvPr/>
        </p:nvSpPr>
        <p:spPr>
          <a:xfrm>
            <a:off x="896112" y="4041648"/>
            <a:ext cx="3419856" cy="777240"/>
          </a:xfrm>
          <a:prstGeom prst="roundRect">
            <a:avLst>
              <a:gd name="adj" fmla="val 9412"/>
            </a:avLst>
          </a:prstGeom>
          <a:solidFill>
            <a:srgbClr val="FFFFFF"/>
          </a:solidFill>
          <a:ln w="12700">
            <a:solidFill>
              <a:srgbClr val="E4EAEE"/>
            </a:solidFill>
            <a:prstDash val="solid"/>
          </a:ln>
        </p:spPr>
      </p:sp>
      <p:sp>
        <p:nvSpPr>
          <p:cNvPr id="13" name="Text 11"/>
          <p:cNvSpPr txBox="1"/>
          <p:nvPr/>
        </p:nvSpPr>
        <p:spPr>
          <a:xfrm>
            <a:off x="1060704" y="4133088"/>
            <a:ext cx="3108960" cy="237744"/>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Optimize</a:t>
            </a:r>
            <a:endParaRPr lang="en-US" sz="1300" dirty="0"/>
          </a:p>
        </p:txBody>
      </p:sp>
      <p:sp>
        <p:nvSpPr>
          <p:cNvPr id="14" name="Text 12"/>
          <p:cNvSpPr txBox="1"/>
          <p:nvPr/>
        </p:nvSpPr>
        <p:spPr>
          <a:xfrm>
            <a:off x="1060704" y="4370832"/>
            <a:ext cx="3108960" cy="384048"/>
          </a:xfrm>
          <a:prstGeom prst="rect">
            <a:avLst/>
          </a:prstGeom>
          <a:noFill/>
          <a:ln/>
        </p:spPr>
        <p:txBody>
          <a:bodyPr wrap="square" lIns="0" tIns="0" rIns="0" bIns="0" rtlCol="0" anchor="ctr"/>
          <a:lstStyle/>
          <a:p>
            <a:pPr indent="0" marL="0">
              <a:buNone/>
            </a:pPr>
            <a:r>
              <a:rPr lang="en-US" sz="1050" dirty="0">
                <a:solidFill>
                  <a:srgbClr val="6B7784"/>
                </a:solidFill>
                <a:latin typeface="Calibri" pitchFamily="34" charset="0"/>
                <a:ea typeface="Calibri" pitchFamily="34" charset="-122"/>
                <a:cs typeface="Calibri" pitchFamily="34" charset="-120"/>
              </a:rPr>
              <a:t>train a skill against your eval set, epochs and all</a:t>
            </a:r>
            <a:endParaRPr lang="en-US" sz="1050" dirty="0"/>
          </a:p>
        </p:txBody>
      </p:sp>
      <p:sp>
        <p:nvSpPr>
          <p:cNvPr id="15" name="Shape 13"/>
          <p:cNvSpPr/>
          <p:nvPr/>
        </p:nvSpPr>
        <p:spPr>
          <a:xfrm>
            <a:off x="4983480" y="2148840"/>
            <a:ext cx="2286000" cy="2331720"/>
          </a:xfrm>
          <a:prstGeom prst="roundRect">
            <a:avLst>
              <a:gd name="adj" fmla="val 3200"/>
            </a:avLst>
          </a:prstGeom>
          <a:solidFill>
            <a:srgbClr val="028090"/>
          </a:solidFill>
          <a:ln w="12700">
            <a:solidFill>
              <a:srgbClr val="028090"/>
            </a:solidFill>
            <a:prstDash val="solid"/>
          </a:ln>
        </p:spPr>
      </p:sp>
      <p:sp>
        <p:nvSpPr>
          <p:cNvPr id="16" name="Text 14"/>
          <p:cNvSpPr txBox="1"/>
          <p:nvPr/>
        </p:nvSpPr>
        <p:spPr>
          <a:xfrm>
            <a:off x="5120640" y="2359152"/>
            <a:ext cx="2011680" cy="27432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YOUR HTTP SERVER</a:t>
            </a:r>
            <a:endParaRPr lang="en-US" sz="1100" dirty="0"/>
          </a:p>
        </p:txBody>
      </p:sp>
      <p:sp>
        <p:nvSpPr>
          <p:cNvPr id="17" name="Text 15"/>
          <p:cNvSpPr txBox="1"/>
          <p:nvPr/>
        </p:nvSpPr>
        <p:spPr>
          <a:xfrm>
            <a:off x="5120640" y="2651760"/>
            <a:ext cx="2011680" cy="457200"/>
          </a:xfrm>
          <a:prstGeom prst="rect">
            <a:avLst/>
          </a:prstGeom>
          <a:noFill/>
          <a:ln/>
        </p:spPr>
        <p:txBody>
          <a:bodyPr wrap="square" lIns="0" tIns="0" rIns="0" bIns="0" rtlCol="0" anchor="ctr"/>
          <a:lstStyle/>
          <a:p>
            <a:pPr algn="ctr" indent="0" marL="0">
              <a:buNone/>
            </a:pPr>
            <a:r>
              <a:rPr lang="en-US" sz="1000" i="1" dirty="0">
                <a:solidFill>
                  <a:srgbClr val="BFE7E8"/>
                </a:solidFill>
                <a:latin typeface="Calibri" pitchFamily="34" charset="0"/>
                <a:ea typeface="Calibri" pitchFamily="34" charset="-122"/>
                <a:cs typeface="Calibri" pitchFamily="34" charset="-120"/>
              </a:rPr>
              <a:t>the only thing this</a:t>
            </a:r>
            <a:endParaRPr lang="en-US" sz="1000" dirty="0"/>
          </a:p>
          <a:p>
            <a:pPr algn="ctr" indent="0" marL="0">
              <a:buNone/>
            </a:pPr>
            <a:r>
              <a:rPr lang="en-US" sz="1000" i="1" dirty="0">
                <a:solidFill>
                  <a:srgbClr val="BFE7E8"/>
                </a:solidFill>
                <a:latin typeface="Calibri" pitchFamily="34" charset="0"/>
                <a:ea typeface="Calibri" pitchFamily="34" charset="-122"/>
                <a:cs typeface="Calibri" pitchFamily="34" charset="-120"/>
              </a:rPr>
              <a:t>sprint asks you to write</a:t>
            </a:r>
            <a:endParaRPr lang="en-US" sz="1000" dirty="0"/>
          </a:p>
        </p:txBody>
      </p:sp>
      <p:sp>
        <p:nvSpPr>
          <p:cNvPr id="18" name="Shape 16"/>
          <p:cNvSpPr/>
          <p:nvPr/>
        </p:nvSpPr>
        <p:spPr>
          <a:xfrm>
            <a:off x="5166360" y="3200400"/>
            <a:ext cx="1920240" cy="457200"/>
          </a:xfrm>
          <a:prstGeom prst="roundRect">
            <a:avLst>
              <a:gd name="adj" fmla="val 14000"/>
            </a:avLst>
          </a:prstGeom>
          <a:solidFill>
            <a:srgbClr val="01606B"/>
          </a:solidFill>
          <a:ln w="12700">
            <a:solidFill>
              <a:srgbClr val="01606B"/>
            </a:solidFill>
            <a:prstDash val="solid"/>
          </a:ln>
        </p:spPr>
      </p:sp>
      <p:sp>
        <p:nvSpPr>
          <p:cNvPr id="19" name="Text 17"/>
          <p:cNvSpPr txBox="1"/>
          <p:nvPr/>
        </p:nvSpPr>
        <p:spPr>
          <a:xfrm>
            <a:off x="5166360" y="3200400"/>
            <a:ext cx="19202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POST  chat</a:t>
            </a:r>
            <a:endParaRPr lang="en-US" sz="1150" dirty="0"/>
          </a:p>
        </p:txBody>
      </p:sp>
      <p:sp>
        <p:nvSpPr>
          <p:cNvPr id="20" name="Shape 18"/>
          <p:cNvSpPr/>
          <p:nvPr/>
        </p:nvSpPr>
        <p:spPr>
          <a:xfrm>
            <a:off x="5166360" y="3785616"/>
            <a:ext cx="1920240" cy="457200"/>
          </a:xfrm>
          <a:prstGeom prst="roundRect">
            <a:avLst>
              <a:gd name="adj" fmla="val 14000"/>
            </a:avLst>
          </a:prstGeom>
          <a:solidFill>
            <a:srgbClr val="01606B"/>
          </a:solidFill>
          <a:ln w="12700">
            <a:solidFill>
              <a:srgbClr val="01606B"/>
            </a:solidFill>
            <a:prstDash val="solid"/>
          </a:ln>
        </p:spPr>
      </p:sp>
      <p:sp>
        <p:nvSpPr>
          <p:cNvPr id="21" name="Text 19"/>
          <p:cNvSpPr txBox="1"/>
          <p:nvPr/>
        </p:nvSpPr>
        <p:spPr>
          <a:xfrm>
            <a:off x="5166360" y="3785616"/>
            <a:ext cx="19202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GET  skills</a:t>
            </a:r>
            <a:endParaRPr lang="en-US" sz="1150" dirty="0"/>
          </a:p>
        </p:txBody>
      </p:sp>
      <p:sp>
        <p:nvSpPr>
          <p:cNvPr id="22" name="Shape 20"/>
          <p:cNvSpPr/>
          <p:nvPr/>
        </p:nvSpPr>
        <p:spPr>
          <a:xfrm>
            <a:off x="8275320" y="2148840"/>
            <a:ext cx="3273552" cy="2331720"/>
          </a:xfrm>
          <a:prstGeom prst="roundRect">
            <a:avLst>
              <a:gd name="adj" fmla="val 3137"/>
            </a:avLst>
          </a:prstGeom>
          <a:solidFill>
            <a:srgbClr val="1F2933"/>
          </a:solidFill>
          <a:ln w="12700">
            <a:solidFill>
              <a:srgbClr val="1F2933"/>
            </a:solidFill>
            <a:prstDash val="solid"/>
          </a:ln>
        </p:spPr>
      </p:sp>
      <p:sp>
        <p:nvSpPr>
          <p:cNvPr id="23" name="Text 21"/>
          <p:cNvSpPr txBox="1"/>
          <p:nvPr/>
        </p:nvSpPr>
        <p:spPr>
          <a:xfrm>
            <a:off x="8458200" y="2395728"/>
            <a:ext cx="2926080" cy="274320"/>
          </a:xfrm>
          <a:prstGeom prst="rect">
            <a:avLst/>
          </a:prstGeom>
          <a:noFill/>
          <a:ln/>
        </p:spPr>
        <p:txBody>
          <a:bodyPr wrap="square" lIns="0" tIns="0" rIns="0" bIns="0" rtlCol="0" anchor="ctr"/>
          <a:lstStyle/>
          <a:p>
            <a:pPr algn="ctr" indent="0" marL="0">
              <a:buNone/>
            </a:pPr>
            <a:r>
              <a:rPr lang="en-US" sz="1100" b="1" spc="100" kern="0" dirty="0">
                <a:solidFill>
                  <a:srgbClr val="02C39A"/>
                </a:solidFill>
                <a:latin typeface="Arial" pitchFamily="34" charset="0"/>
                <a:ea typeface="Arial" pitchFamily="34" charset="-122"/>
                <a:cs typeface="Arial" pitchFamily="34" charset="-120"/>
              </a:rPr>
              <a:t>YOUR DOMAIN AGENT</a:t>
            </a:r>
            <a:endParaRPr lang="en-US" sz="1100" dirty="0"/>
          </a:p>
        </p:txBody>
      </p:sp>
      <p:sp>
        <p:nvSpPr>
          <p:cNvPr id="24" name="Text 22"/>
          <p:cNvSpPr txBox="1"/>
          <p:nvPr/>
        </p:nvSpPr>
        <p:spPr>
          <a:xfrm>
            <a:off x="8458200" y="2834640"/>
            <a:ext cx="292608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 black box.</a:t>
            </a:r>
            <a:endParaRPr lang="en-US" sz="1800" dirty="0"/>
          </a:p>
        </p:txBody>
      </p:sp>
      <p:sp>
        <p:nvSpPr>
          <p:cNvPr id="25" name="Text 23"/>
          <p:cNvSpPr txBox="1"/>
          <p:nvPr/>
        </p:nvSpPr>
        <p:spPr>
          <a:xfrm>
            <a:off x="8458200" y="3291840"/>
            <a:ext cx="2926080" cy="822960"/>
          </a:xfrm>
          <a:prstGeom prst="rect">
            <a:avLst/>
          </a:prstGeom>
          <a:noFill/>
          <a:ln/>
        </p:spPr>
        <p:txBody>
          <a:bodyPr wrap="square" lIns="0" tIns="0" rIns="0" bIns="0" rtlCol="0" anchor="ctr"/>
          <a:lstStyle/>
          <a:p>
            <a:pPr algn="ctr" indent="0" marL="0">
              <a:buNone/>
            </a:pPr>
            <a:r>
              <a:rPr lang="en-US" sz="1100" dirty="0">
                <a:solidFill>
                  <a:srgbClr val="A8B4BE"/>
                </a:solidFill>
                <a:latin typeface="Calibri" pitchFamily="34" charset="0"/>
                <a:ea typeface="Calibri" pitchFamily="34" charset="-122"/>
                <a:cs typeface="Calibri" pitchFamily="34" charset="-120"/>
              </a:rPr>
              <a:t>The platform never sees your model,</a:t>
            </a:r>
            <a:endParaRPr lang="en-US" sz="1100" dirty="0"/>
          </a:p>
          <a:p>
            <a:pPr algn="ctr" indent="0" marL="0">
              <a:buNone/>
            </a:pPr>
            <a:r>
              <a:rPr lang="en-US" sz="1100" dirty="0">
                <a:solidFill>
                  <a:srgbClr val="A8B4BE"/>
                </a:solidFill>
                <a:latin typeface="Calibri" pitchFamily="34" charset="0"/>
                <a:ea typeface="Calibri" pitchFamily="34" charset="-122"/>
                <a:cs typeface="Calibri" pitchFamily="34" charset="-120"/>
              </a:rPr>
              <a:t>your tools, or your prompt — only</a:t>
            </a:r>
            <a:endParaRPr lang="en-US" sz="1100" dirty="0"/>
          </a:p>
          <a:p>
            <a:pPr algn="ctr" indent="0" marL="0">
              <a:buNone/>
            </a:pPr>
            <a:r>
              <a:rPr lang="en-US" sz="1100" dirty="0">
                <a:solidFill>
                  <a:srgbClr val="A8B4BE"/>
                </a:solidFill>
                <a:latin typeface="Calibri" pitchFamily="34" charset="0"/>
                <a:ea typeface="Calibri" pitchFamily="34" charset="-122"/>
                <a:cs typeface="Calibri" pitchFamily="34" charset="-120"/>
              </a:rPr>
              <a:t>what these two endpoints return.</a:t>
            </a:r>
            <a:endParaRPr lang="en-US" sz="1100" dirty="0"/>
          </a:p>
        </p:txBody>
      </p:sp>
      <p:sp>
        <p:nvSpPr>
          <p:cNvPr id="26" name="Shape 24"/>
          <p:cNvSpPr/>
          <p:nvPr/>
        </p:nvSpPr>
        <p:spPr>
          <a:xfrm>
            <a:off x="4590288" y="3310128"/>
            <a:ext cx="365760" cy="0"/>
          </a:xfrm>
          <a:prstGeom prst="line">
            <a:avLst/>
          </a:prstGeom>
          <a:noFill/>
          <a:ln w="22225">
            <a:solidFill>
              <a:srgbClr val="6B7784"/>
            </a:solidFill>
            <a:prstDash val="solid"/>
            <a:headEnd type="triangle"/>
            <a:tailEnd type="triangle"/>
          </a:ln>
        </p:spPr>
      </p:sp>
      <p:sp>
        <p:nvSpPr>
          <p:cNvPr id="27" name="Shape 25"/>
          <p:cNvSpPr/>
          <p:nvPr/>
        </p:nvSpPr>
        <p:spPr>
          <a:xfrm>
            <a:off x="7306056" y="3310128"/>
            <a:ext cx="941832" cy="0"/>
          </a:xfrm>
          <a:prstGeom prst="line">
            <a:avLst/>
          </a:prstGeom>
          <a:noFill/>
          <a:ln w="22225">
            <a:solidFill>
              <a:srgbClr val="6B7784"/>
            </a:solidFill>
            <a:prstDash val="solid"/>
            <a:headEnd type="triangle"/>
            <a:tailEnd type="triangle"/>
          </a:ln>
        </p:spPr>
      </p:sp>
      <p:sp>
        <p:nvSpPr>
          <p:cNvPr id="28" name="Text 26"/>
          <p:cNvSpPr txBox="1"/>
          <p:nvPr/>
        </p:nvSpPr>
        <p:spPr>
          <a:xfrm>
            <a:off x="4526280" y="2962656"/>
            <a:ext cx="548640" cy="274320"/>
          </a:xfrm>
          <a:prstGeom prst="rect">
            <a:avLst/>
          </a:prstGeom>
          <a:noFill/>
          <a:ln/>
        </p:spPr>
        <p:txBody>
          <a:bodyPr wrap="square" lIns="0" tIns="0" rIns="0" bIns="0" rtlCol="0" anchor="ctr"/>
          <a:lstStyle/>
          <a:p>
            <a:pPr algn="ctr" indent="0" marL="0">
              <a:buNone/>
            </a:pPr>
            <a:r>
              <a:rPr lang="en-US" sz="950" dirty="0">
                <a:solidFill>
                  <a:srgbClr val="6B7784"/>
                </a:solidFill>
                <a:latin typeface="Calibri" pitchFamily="34" charset="0"/>
                <a:ea typeface="Calibri" pitchFamily="34" charset="-122"/>
                <a:cs typeface="Calibri" pitchFamily="34" charset="-120"/>
              </a:rPr>
              <a:t>HTTP</a:t>
            </a:r>
            <a:endParaRPr lang="en-US" sz="950" dirty="0"/>
          </a:p>
        </p:txBody>
      </p:sp>
      <p:sp>
        <p:nvSpPr>
          <p:cNvPr id="29" name="Text 27"/>
          <p:cNvSpPr txBox="1"/>
          <p:nvPr/>
        </p:nvSpPr>
        <p:spPr>
          <a:xfrm>
            <a:off x="7315200" y="2962656"/>
            <a:ext cx="914400" cy="274320"/>
          </a:xfrm>
          <a:prstGeom prst="rect">
            <a:avLst/>
          </a:prstGeom>
          <a:noFill/>
          <a:ln/>
        </p:spPr>
        <p:txBody>
          <a:bodyPr wrap="square" lIns="0" tIns="0" rIns="0" bIns="0" rtlCol="0" anchor="ctr"/>
          <a:lstStyle/>
          <a:p>
            <a:pPr algn="ctr" indent="0" marL="0">
              <a:buNone/>
            </a:pPr>
            <a:r>
              <a:rPr lang="en-US" sz="950" dirty="0">
                <a:solidFill>
                  <a:srgbClr val="6B7784"/>
                </a:solidFill>
                <a:latin typeface="Calibri" pitchFamily="34" charset="0"/>
                <a:ea typeface="Calibri" pitchFamily="34" charset="-122"/>
                <a:cs typeface="Calibri" pitchFamily="34" charset="-120"/>
              </a:rPr>
              <a:t>your call</a:t>
            </a:r>
            <a:endParaRPr lang="en-US" sz="950" dirty="0"/>
          </a:p>
        </p:txBody>
      </p:sp>
      <p:sp>
        <p:nvSpPr>
          <p:cNvPr id="30" name="Text 28"/>
          <p:cNvSpPr txBox="1"/>
          <p:nvPr/>
        </p:nvSpPr>
        <p:spPr>
          <a:xfrm>
            <a:off x="640080" y="5257800"/>
            <a:ext cx="10911535" cy="310896"/>
          </a:xfrm>
          <a:prstGeom prst="rect">
            <a:avLst/>
          </a:prstGeom>
          <a:noFill/>
          <a:ln/>
        </p:spPr>
        <p:txBody>
          <a:bodyPr wrap="square" lIns="0" tIns="0" rIns="0" bIns="0" rtlCol="0" anchor="ctr"/>
          <a:lstStyle/>
          <a:p>
            <a:pPr indent="0" marL="0">
              <a:buNone/>
            </a:pPr>
            <a:r>
              <a:rPr lang="en-US" sz="1250" dirty="0">
                <a:solidFill>
                  <a:srgbClr val="3A4750"/>
                </a:solidFill>
                <a:latin typeface="Calibri" pitchFamily="34" charset="0"/>
                <a:ea typeface="Calibri" pitchFamily="34" charset="-122"/>
                <a:cs typeface="Calibri" pitchFamily="34" charset="-120"/>
              </a:rPr>
              <a:t>Traces close the loop: your agent writes to Langfuse under the trace id we send, and the platform reads them back.</a:t>
            </a:r>
            <a:endParaRPr lang="en-US" sz="1250" dirty="0"/>
          </a:p>
        </p:txBody>
      </p:sp>
      <p:sp>
        <p:nvSpPr>
          <p:cNvPr id="31" name="Text 29"/>
          <p:cNvSpPr txBox="1"/>
          <p:nvPr/>
        </p:nvSpPr>
        <p:spPr>
          <a:xfrm>
            <a:off x="640080" y="6236208"/>
            <a:ext cx="10911535" cy="292608"/>
          </a:xfrm>
          <a:prstGeom prst="rect">
            <a:avLst/>
          </a:prstGeom>
          <a:noFill/>
          <a:ln/>
        </p:spPr>
        <p:txBody>
          <a:bodyPr wrap="square" lIns="0" tIns="0" rIns="0" bIns="0" rtlCol="0" anchor="ctr"/>
          <a:lstStyle/>
          <a:p>
            <a:pPr indent="0" marL="0">
              <a:buNone/>
            </a:pPr>
            <a:r>
              <a:rPr lang="en-US" sz="1100" i="1" dirty="0">
                <a:solidFill>
                  <a:srgbClr val="6B7784"/>
                </a:solidFill>
                <a:latin typeface="Calibri" pitchFamily="34" charset="0"/>
                <a:ea typeface="Calibri" pitchFamily="34" charset="-122"/>
                <a:cs typeface="Calibri" pitchFamily="34" charset="-120"/>
              </a:rPr>
              <a:t>Everything left of the seam is ours to maintain. Everything right of it stays yours.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Arial" pitchFamily="34" charset="0"/>
                <a:ea typeface="Arial" pitchFamily="34" charset="-122"/>
                <a:cs typeface="Arial" pitchFamily="34" charset="-120"/>
              </a:rPr>
              <a:t>PART 1 · THE CONTRACT</a:t>
            </a:r>
            <a:endParaRPr lang="en-US" sz="1100" dirty="0"/>
          </a:p>
        </p:txBody>
      </p:sp>
      <p:sp>
        <p:nvSpPr>
          <p:cNvPr id="3" name="Text 1"/>
          <p:cNvSpPr txBox="1"/>
          <p:nvPr/>
        </p:nvSpPr>
        <p:spPr>
          <a:xfrm>
            <a:off x="640080" y="658368"/>
            <a:ext cx="10911535"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Two endpoints — and only the first is required</a:t>
            </a:r>
            <a:endParaRPr lang="en-US" sz="3000" dirty="0"/>
          </a:p>
        </p:txBody>
      </p:sp>
      <p:sp>
        <p:nvSpPr>
          <p:cNvPr id="4" name="Shape 2"/>
          <p:cNvSpPr/>
          <p:nvPr/>
        </p:nvSpPr>
        <p:spPr>
          <a:xfrm>
            <a:off x="640080" y="1600200"/>
            <a:ext cx="5285232" cy="3200400"/>
          </a:xfrm>
          <a:prstGeom prst="roundRect">
            <a:avLst>
              <a:gd name="adj" fmla="val 2286"/>
            </a:avLst>
          </a:prstGeom>
          <a:solidFill>
            <a:srgbClr val="028090"/>
          </a:solidFill>
          <a:ln w="12700">
            <a:solidFill>
              <a:srgbClr val="028090"/>
            </a:solidFill>
            <a:prstDash val="solid"/>
          </a:ln>
        </p:spPr>
      </p:sp>
      <p:sp>
        <p:nvSpPr>
          <p:cNvPr id="5" name="Text 3"/>
          <p:cNvSpPr txBox="1"/>
          <p:nvPr/>
        </p:nvSpPr>
        <p:spPr>
          <a:xfrm>
            <a:off x="932688" y="1828800"/>
            <a:ext cx="4700016" cy="329184"/>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POST   {chat endpoint}</a:t>
            </a:r>
            <a:endParaRPr lang="en-US" sz="1500" dirty="0"/>
          </a:p>
        </p:txBody>
      </p:sp>
      <p:sp>
        <p:nvSpPr>
          <p:cNvPr id="6" name="Text 4"/>
          <p:cNvSpPr txBox="1"/>
          <p:nvPr/>
        </p:nvSpPr>
        <p:spPr>
          <a:xfrm>
            <a:off x="932688" y="2212848"/>
            <a:ext cx="4700016" cy="292608"/>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Answer one question.</a:t>
            </a:r>
            <a:endParaRPr lang="en-US" sz="1500" dirty="0"/>
          </a:p>
        </p:txBody>
      </p:sp>
      <p:sp>
        <p:nvSpPr>
          <p:cNvPr id="7" name="Text 5"/>
          <p:cNvSpPr txBox="1"/>
          <p:nvPr/>
        </p:nvSpPr>
        <p:spPr>
          <a:xfrm>
            <a:off x="932688" y="2697480"/>
            <a:ext cx="4700016" cy="219456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A plain OpenAI chat completions endpoint — if you already have one, you are already integrated</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Single-shot: no conversation, no session, no state between calls</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Everything the platform needs beyond the standard rides in one extra top-level key: skill_studio</a:t>
            </a:r>
            <a:endParaRPr lang="en-US" sz="1250" dirty="0"/>
          </a:p>
          <a:p>
            <a:pPr marL="342900" indent="-3429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Ignore any key you do not recognise</a:t>
            </a:r>
            <a:endParaRPr lang="en-US" sz="1250" dirty="0"/>
          </a:p>
        </p:txBody>
      </p:sp>
      <p:sp>
        <p:nvSpPr>
          <p:cNvPr id="8" name="Shape 6"/>
          <p:cNvSpPr/>
          <p:nvPr/>
        </p:nvSpPr>
        <p:spPr>
          <a:xfrm>
            <a:off x="6272784" y="1600200"/>
            <a:ext cx="5285232" cy="3200400"/>
          </a:xfrm>
          <a:prstGeom prst="roundRect">
            <a:avLst>
              <a:gd name="adj" fmla="val 2286"/>
            </a:avLst>
          </a:prstGeom>
          <a:solidFill>
            <a:srgbClr val="F1F4F6"/>
          </a:solidFill>
          <a:ln w="12700">
            <a:solidFill>
              <a:srgbClr val="E4EAEE"/>
            </a:solidFill>
            <a:prstDash val="solid"/>
          </a:ln>
        </p:spPr>
      </p:sp>
      <p:sp>
        <p:nvSpPr>
          <p:cNvPr id="9" name="Text 7"/>
          <p:cNvSpPr txBox="1"/>
          <p:nvPr/>
        </p:nvSpPr>
        <p:spPr>
          <a:xfrm>
            <a:off x="6565392" y="1828800"/>
            <a:ext cx="4700016" cy="329184"/>
          </a:xfrm>
          <a:prstGeom prst="rect">
            <a:avLst/>
          </a:prstGeom>
          <a:noFill/>
          <a:ln/>
        </p:spPr>
        <p:txBody>
          <a:bodyPr wrap="square" lIns="0" tIns="0" rIns="0" bIns="0" rtlCol="0" anchor="ctr"/>
          <a:lstStyle/>
          <a:p>
            <a:pPr indent="0" marL="0">
              <a:buNone/>
            </a:pPr>
            <a:r>
              <a:rPr lang="en-US" sz="1500" b="1" dirty="0">
                <a:solidFill>
                  <a:srgbClr val="1F2933"/>
                </a:solidFill>
                <a:latin typeface="Courier New" pitchFamily="34" charset="0"/>
                <a:ea typeface="Courier New" pitchFamily="34" charset="-122"/>
                <a:cs typeface="Courier New" pitchFamily="34" charset="-120"/>
              </a:rPr>
              <a:t>GET   {skills endpoint}</a:t>
            </a:r>
            <a:endParaRPr lang="en-US" sz="1500" dirty="0"/>
          </a:p>
        </p:txBody>
      </p:sp>
      <p:sp>
        <p:nvSpPr>
          <p:cNvPr id="10" name="Text 8"/>
          <p:cNvSpPr txBox="1"/>
          <p:nvPr/>
        </p:nvSpPr>
        <p:spPr>
          <a:xfrm>
            <a:off x="6565392" y="2212848"/>
            <a:ext cx="4700016"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List your skill files.</a:t>
            </a:r>
            <a:endParaRPr lang="en-US" sz="1500" dirty="0"/>
          </a:p>
        </p:txBody>
      </p:sp>
      <p:sp>
        <p:nvSpPr>
          <p:cNvPr id="11" name="Text 9"/>
          <p:cNvSpPr txBox="1"/>
          <p:nvPr/>
        </p:nvSpPr>
        <p:spPr>
          <a:xfrm>
            <a:off x="6565392" y="2697480"/>
            <a:ext cx="4700016" cy="219456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3A4750"/>
                </a:solidFill>
                <a:latin typeface="Calibri" pitchFamily="34" charset="0"/>
                <a:ea typeface="Calibri" pitchFamily="34" charset="-122"/>
                <a:cs typeface="Calibri" pitchFamily="34" charset="-120"/>
              </a:rPr>
              <a:t>Optional — without it, evaluation still runs normally</a:t>
            </a:r>
            <a:endParaRPr lang="en-US" sz="1250" dirty="0"/>
          </a:p>
          <a:p>
            <a:pPr marL="342900" indent="-342900">
              <a:spcAft>
                <a:spcPts val="900"/>
              </a:spcAft>
              <a:buSzPct val="100000"/>
              <a:buChar char="•"/>
            </a:pPr>
            <a:r>
              <a:rPr lang="en-US" sz="1250" dirty="0">
                <a:solidFill>
                  <a:srgbClr val="3A4750"/>
                </a:solidFill>
                <a:latin typeface="Calibri" pitchFamily="34" charset="0"/>
                <a:ea typeface="Calibri" pitchFamily="34" charset="-122"/>
                <a:cs typeface="Calibri" pitchFamily="34" charset="-120"/>
              </a:rPr>
              <a:t>Returns your whole skill workspace as a flat {path: text} map</a:t>
            </a:r>
            <a:endParaRPr lang="en-US" sz="1250" dirty="0"/>
          </a:p>
          <a:p>
            <a:pPr marL="342900" indent="-342900">
              <a:spcAft>
                <a:spcPts val="900"/>
              </a:spcAft>
              <a:buSzPct val="100000"/>
              <a:buChar char="•"/>
            </a:pPr>
            <a:r>
              <a:rPr lang="en-US" sz="1250" dirty="0">
                <a:solidFill>
                  <a:srgbClr val="3A4750"/>
                </a:solidFill>
                <a:latin typeface="Calibri" pitchFamily="34" charset="0"/>
                <a:ea typeface="Calibri" pitchFamily="34" charset="-122"/>
                <a:cs typeface="Calibri" pitchFamily="34" charset="-120"/>
              </a:rPr>
              <a:t>Plus a version string that moves whenever your answers would move</a:t>
            </a:r>
            <a:endParaRPr lang="en-US" sz="1250" dirty="0"/>
          </a:p>
          <a:p>
            <a:pPr marL="342900" indent="-342900">
              <a:spcAft>
                <a:spcPts val="900"/>
              </a:spcAft>
              <a:buSzPct val="100000"/>
              <a:buChar char="•"/>
            </a:pPr>
            <a:r>
              <a:rPr lang="en-US" sz="1250" dirty="0">
                <a:solidFill>
                  <a:srgbClr val="3A4750"/>
                </a:solidFill>
                <a:latin typeface="Calibri" pitchFamily="34" charset="0"/>
                <a:ea typeface="Calibri" pitchFamily="34" charset="-122"/>
                <a:cs typeface="Calibri" pitchFamily="34" charset="-120"/>
              </a:rPr>
              <a:t>No parameters, no request body</a:t>
            </a:r>
            <a:endParaRPr lang="en-US" sz="1250" dirty="0"/>
          </a:p>
        </p:txBody>
      </p:sp>
      <p:sp>
        <p:nvSpPr>
          <p:cNvPr id="12" name="Shape 10"/>
          <p:cNvSpPr/>
          <p:nvPr/>
        </p:nvSpPr>
        <p:spPr>
          <a:xfrm>
            <a:off x="640080" y="4983480"/>
            <a:ext cx="10911535" cy="1005840"/>
          </a:xfrm>
          <a:prstGeom prst="roundRect">
            <a:avLst>
              <a:gd name="adj" fmla="val 7273"/>
            </a:avLst>
          </a:prstGeom>
          <a:solidFill>
            <a:srgbClr val="FFFFFF"/>
          </a:solidFill>
          <a:ln w="12700">
            <a:solidFill>
              <a:srgbClr val="E4EAEE"/>
            </a:solidFill>
            <a:prstDash val="solid"/>
          </a:ln>
        </p:spPr>
      </p:sp>
      <p:sp>
        <p:nvSpPr>
          <p:cNvPr id="13" name="Text 11"/>
          <p:cNvSpPr txBox="1"/>
          <p:nvPr/>
        </p:nvSpPr>
        <p:spPr>
          <a:xfrm>
            <a:off x="914400" y="5120640"/>
            <a:ext cx="10362895" cy="256032"/>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Authentication unlocks nothing</a:t>
            </a:r>
            <a:endParaRPr lang="en-US" sz="1300" dirty="0"/>
          </a:p>
        </p:txBody>
      </p:sp>
      <p:sp>
        <p:nvSpPr>
          <p:cNvPr id="14" name="Text 12"/>
          <p:cNvSpPr txBox="1"/>
          <p:nvPr/>
        </p:nvSpPr>
        <p:spPr>
          <a:xfrm>
            <a:off x="914400" y="5413248"/>
            <a:ext cx="10362895" cy="457200"/>
          </a:xfrm>
          <a:prstGeom prst="rect">
            <a:avLst/>
          </a:prstGeom>
          <a:noFill/>
          <a:ln/>
        </p:spPr>
        <p:txBody>
          <a:bodyPr wrap="square" lIns="0" tIns="0" rIns="0" bIns="0" rtlCol="0" anchor="ctr"/>
          <a:lstStyle/>
          <a:p>
            <a:pPr indent="0" marL="0">
              <a:buNone/>
            </a:pPr>
            <a:r>
              <a:rPr lang="en-US" sz="1150" dirty="0">
                <a:solidFill>
                  <a:srgbClr val="3A4750"/>
                </a:solidFill>
                <a:latin typeface="Calibri" pitchFamily="34" charset="0"/>
                <a:ea typeface="Calibri" pitchFamily="34" charset="-122"/>
                <a:cs typeface="Calibri" pitchFamily="34" charset="-120"/>
              </a:rPr>
              <a:t>A server that demands a credential and one that demands none are equally usable here. If yours sits behind a gateway, a developer types the key beside the URL and every request carries it — as a Bearer header, or as a header you name. With no key entered, the request is byte for byte what it was before.</a:t>
            </a:r>
            <a:endParaRPr lang="en-US" sz="1150" dirty="0"/>
          </a:p>
        </p:txBody>
      </p:sp>
      <p:sp>
        <p:nvSpPr>
          <p:cNvPr id="15" name="Text 13"/>
          <p:cNvSpPr txBox="1"/>
          <p:nvPr/>
        </p:nvSpPr>
        <p:spPr>
          <a:xfrm>
            <a:off x="640080" y="6236208"/>
            <a:ext cx="10911535" cy="292608"/>
          </a:xfrm>
          <a:prstGeom prst="rect">
            <a:avLst/>
          </a:prstGeom>
          <a:noFill/>
          <a:ln/>
        </p:spPr>
        <p:txBody>
          <a:bodyPr wrap="square" lIns="0" tIns="0" rIns="0" bIns="0" rtlCol="0" anchor="ctr"/>
          <a:lstStyle/>
          <a:p>
            <a:pPr indent="0" marL="0">
              <a:buNone/>
            </a:pPr>
            <a:r>
              <a:rPr lang="en-US" sz="1100" i="1" dirty="0">
                <a:solidFill>
                  <a:srgbClr val="6B7784"/>
                </a:solidFill>
                <a:latin typeface="Calibri" pitchFamily="34" charset="0"/>
                <a:ea typeface="Calibri" pitchFamily="34" charset="-122"/>
                <a:cs typeface="Calibri" pitchFamily="34" charset="-120"/>
              </a:rPr>
              <a:t>Two absolute URLs, entered separately. Nothing is appended to a base URL and no path is imposed — different prefixes, gateways, even different hosts are all fine.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Arial" pitchFamily="34" charset="0"/>
                <a:ea typeface="Arial" pitchFamily="34" charset="-122"/>
                <a:cs typeface="Arial" pitchFamily="34" charset="-120"/>
              </a:rPr>
              <a:t>PART 1 · SCHEMA</a:t>
            </a:r>
            <a:endParaRPr lang="en-US" sz="1100" dirty="0"/>
          </a:p>
        </p:txBody>
      </p:sp>
      <p:sp>
        <p:nvSpPr>
          <p:cNvPr id="3" name="Text 1"/>
          <p:cNvSpPr txBox="1"/>
          <p:nvPr/>
        </p:nvSpPr>
        <p:spPr>
          <a:xfrm>
            <a:off x="640080" y="658368"/>
            <a:ext cx="10911535"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Chat endpoint — the request</a:t>
            </a:r>
            <a:endParaRPr lang="en-US" sz="3000" dirty="0"/>
          </a:p>
        </p:txBody>
      </p:sp>
      <p:sp>
        <p:nvSpPr>
          <p:cNvPr id="4" name="Shape 2"/>
          <p:cNvSpPr/>
          <p:nvPr/>
        </p:nvSpPr>
        <p:spPr>
          <a:xfrm>
            <a:off x="640080" y="1572768"/>
            <a:ext cx="5943600" cy="3703320"/>
          </a:xfrm>
          <a:prstGeom prst="roundRect">
            <a:avLst>
              <a:gd name="adj" fmla="val 1481"/>
            </a:avLst>
          </a:prstGeom>
          <a:solidFill>
            <a:srgbClr val="F5F7F8"/>
          </a:solidFill>
          <a:ln w="12700">
            <a:solidFill>
              <a:srgbClr val="E4EAEE"/>
            </a:solidFill>
            <a:prstDash val="solid"/>
          </a:ln>
        </p:spPr>
      </p:sp>
      <p:sp>
        <p:nvSpPr>
          <p:cNvPr id="5" name="Text 3"/>
          <p:cNvSpPr txBox="1"/>
          <p:nvPr/>
        </p:nvSpPr>
        <p:spPr>
          <a:xfrm>
            <a:off x="786384" y="1682496"/>
            <a:ext cx="5650992" cy="3483864"/>
          </a:xfrm>
          <a:prstGeom prst="rect">
            <a:avLst/>
          </a:prstGeom>
          <a:noFill/>
          <a:ln/>
        </p:spPr>
        <p:txBody>
          <a:bodyPr wrap="square" lIns="0" tIns="0" rIns="0" bIns="0" rtlCol="0" anchor="t"/>
          <a:lstStyle/>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"model": "default",</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"messages":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{"role": "user", "content": "What was ACME's</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outstanding balance at the end of Q2?"}</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"stream": false,</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"skill_studio":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"timeout_s": 115.0,</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"trace_data":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"trace_id":   "9f3e11c8a2b04d7e8c1f5a6b7d8e9f01",</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"session_id": "9f3e11c8a2b04d7e8c1f5a6b7d8e9f01",</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"user_id": "alice",</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"tags": ["eval_billing"]</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"skills": {                        // optional</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"billing/SKILL.md": "---\nname: billing\n---#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12280" y="1572768"/>
          <a:ext cx="4736592" cy="914400"/>
        </p:xfrm>
        <a:graphic>
          <a:graphicData uri="http://schemas.openxmlformats.org/drawingml/2006/table">
            <a:tbl>
              <a:tblPr/>
              <a:tblGrid>
                <a:gridCol w="1234440"/>
                <a:gridCol w="350215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Field</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1F29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do with it</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1F2933"/>
                    </a:solidFill>
                  </a:tcPr>
                </a:tc>
              </a:tr>
              <a:tr h="0">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messages</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Exactly one user message. No system message — your prompt stays yours.</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model / stream</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Constants ("default", false). You may ignore both.</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timeout_s</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Your budget for this call. Honour it, clamp it to a ceiling of your own, and return 504 on expiry.</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trace_id</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Use the one we send as your Langfuse trace id. Mint your own and every trace-reading feature goes dark.</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skills</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c>
                  <a:txBody>
                    <a:bodyPr/>
                    <a:lstStyle/>
                    <a:p>
                      <a:pPr indent="0" marL="0">
                        <a:buNone/>
                      </a:pPr>
                      <a:r>
                        <a:rPr lang="en-US" sz="1050" dirty="0">
                          <a:solidFill>
                            <a:srgbClr val="3A4750"/>
                          </a:solidFill>
                          <a:latin typeface="Calibri" pitchFamily="34" charset="0"/>
                          <a:ea typeface="Calibri" pitchFamily="34" charset="-122"/>
                          <a:cs typeface="Calibri" pitchFamily="34" charset="-120"/>
                        </a:rPr>
                        <a:t>Absent → your own files. A map → these files only, for this call. {} → no skill files at all.</a:t>
                      </a:r>
                      <a:endParaRPr lang="en-US" sz="1050" dirty="0">
                        <a:latin typeface="Calibri" charset="0"/>
                        <a:ea typeface="Calibri" charset="0"/>
                        <a:cs typeface="Calibri" charset="0"/>
                      </a:endParaRPr>
                    </a:p>
                  </a:txBody>
                  <a:tcPr marL="76200" marR="76200" marT="76200" marB="76200" anchor="t">
                    <a:lnL w="12700" cap="flat" cmpd="sng" algn="ctr">
                      <a:solidFill>
                        <a:srgbClr val="E4EAEE"/>
                      </a:solidFill>
                      <a:prstDash val="solid"/>
                      <a:round/>
                      <a:headEnd type="none" w="med" len="med"/>
                      <a:tailEnd type="none" w="med" len="med"/>
                    </a:lnL>
                    <a:lnR w="12700" cap="flat" cmpd="sng" algn="ctr">
                      <a:solidFill>
                        <a:srgbClr val="E4EAEE"/>
                      </a:solidFill>
                      <a:prstDash val="solid"/>
                      <a:round/>
                      <a:headEnd type="none" w="med" len="med"/>
                      <a:tailEnd type="none" w="med" len="med"/>
                    </a:lnR>
                    <a:lnT w="12700" cap="flat" cmpd="sng" algn="ctr">
                      <a:solidFill>
                        <a:srgbClr val="E4EAEE"/>
                      </a:solidFill>
                      <a:prstDash val="solid"/>
                      <a:round/>
                      <a:headEnd type="none" w="med" len="med"/>
                      <a:tailEnd type="none" w="med" len="med"/>
                    </a:lnT>
                    <a:lnB w="12700" cap="flat" cmpd="sng" algn="ctr">
                      <a:solidFill>
                        <a:srgbClr val="E4EAEE"/>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5440680"/>
            <a:ext cx="10911535" cy="658368"/>
          </a:xfrm>
          <a:prstGeom prst="roundRect">
            <a:avLst>
              <a:gd name="adj" fmla="val 11111"/>
            </a:avLst>
          </a:prstGeom>
          <a:solidFill>
            <a:srgbClr val="F1F4F6"/>
          </a:solidFill>
          <a:ln w="12700">
            <a:solidFill>
              <a:srgbClr val="E4EAEE"/>
            </a:solidFill>
            <a:prstDash val="solid"/>
          </a:ln>
        </p:spPr>
      </p:sp>
      <p:sp>
        <p:nvSpPr>
          <p:cNvPr id="8" name="Text 5"/>
          <p:cNvSpPr txBox="1"/>
          <p:nvPr/>
        </p:nvSpPr>
        <p:spPr>
          <a:xfrm>
            <a:off x="896112" y="5532120"/>
            <a:ext cx="10399471" cy="50292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Response — </a:t>
            </a:r>
            <a:pPr indent="0" marL="0">
              <a:buNone/>
            </a:pPr>
            <a:r>
              <a:rPr lang="en-US" sz="1200" dirty="0">
                <a:solidFill>
                  <a:srgbClr val="3A4750"/>
                </a:solidFill>
                <a:latin typeface="Calibri" pitchFamily="34" charset="0"/>
                <a:ea typeface="Calibri" pitchFamily="34" charset="-122"/>
                <a:cs typeface="Calibri" pitchFamily="34" charset="-120"/>
              </a:rPr>
              <a:t>an ordinary chat completion; the answer is read from </a:t>
            </a:r>
            <a:pPr indent="0" marL="0">
              <a:buNone/>
            </a:pPr>
            <a:r>
              <a:rPr lang="en-US" sz="1200" dirty="0">
                <a:solidFill>
                  <a:srgbClr val="01606B"/>
                </a:solidFill>
                <a:latin typeface="Courier New" pitchFamily="34" charset="0"/>
                <a:ea typeface="Courier New" pitchFamily="34" charset="-122"/>
                <a:cs typeface="Courier New" pitchFamily="34" charset="-120"/>
              </a:rPr>
              <a:t>choices[0].message.content</a:t>
            </a:r>
            <a:pPr indent="0" marL="0">
              <a:buNone/>
            </a:pPr>
            <a:r>
              <a:rPr lang="en-US" sz="1200" dirty="0">
                <a:solidFill>
                  <a:srgbClr val="3A4750"/>
                </a:solidFill>
                <a:latin typeface="Calibri" pitchFamily="34" charset="0"/>
                <a:ea typeface="Calibri" pitchFamily="34" charset="-122"/>
                <a:cs typeface="Calibri" pitchFamily="34" charset="-120"/>
              </a:rPr>
              <a:t>. Never return an empty answer or a tool-call-only message — that fails the question rather than scoring it. If you have nothing to say, return a 5xx with a reason.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Arial" pitchFamily="34" charset="0"/>
                <a:ea typeface="Arial" pitchFamily="34" charset="-122"/>
                <a:cs typeface="Arial" pitchFamily="34" charset="-120"/>
              </a:rPr>
              <a:t>PART 1 · SCHEMA</a:t>
            </a:r>
            <a:endParaRPr lang="en-US" sz="1100" dirty="0"/>
          </a:p>
        </p:txBody>
      </p:sp>
      <p:sp>
        <p:nvSpPr>
          <p:cNvPr id="3" name="Text 1"/>
          <p:cNvSpPr txBox="1"/>
          <p:nvPr/>
        </p:nvSpPr>
        <p:spPr>
          <a:xfrm>
            <a:off x="640080" y="658368"/>
            <a:ext cx="10911535"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Skills endpoint — the response</a:t>
            </a:r>
            <a:endParaRPr lang="en-US" sz="3000" dirty="0"/>
          </a:p>
        </p:txBody>
      </p:sp>
      <p:sp>
        <p:nvSpPr>
          <p:cNvPr id="4" name="Shape 2"/>
          <p:cNvSpPr/>
          <p:nvPr/>
        </p:nvSpPr>
        <p:spPr>
          <a:xfrm>
            <a:off x="640080" y="1572768"/>
            <a:ext cx="5943600" cy="2286000"/>
          </a:xfrm>
          <a:prstGeom prst="roundRect">
            <a:avLst>
              <a:gd name="adj" fmla="val 2400"/>
            </a:avLst>
          </a:prstGeom>
          <a:solidFill>
            <a:srgbClr val="F5F7F8"/>
          </a:solidFill>
          <a:ln w="12700">
            <a:solidFill>
              <a:srgbClr val="E4EAEE"/>
            </a:solidFill>
            <a:prstDash val="solid"/>
          </a:ln>
        </p:spPr>
      </p:sp>
      <p:sp>
        <p:nvSpPr>
          <p:cNvPr id="5" name="Text 3"/>
          <p:cNvSpPr txBox="1"/>
          <p:nvPr/>
        </p:nvSpPr>
        <p:spPr>
          <a:xfrm>
            <a:off x="786384" y="1682496"/>
            <a:ext cx="5650992" cy="2066544"/>
          </a:xfrm>
          <a:prstGeom prst="rect">
            <a:avLst/>
          </a:prstGeom>
          <a:noFill/>
          <a:ln/>
        </p:spPr>
        <p:txBody>
          <a:bodyPr wrap="square" lIns="0" tIns="0" rIns="0" bIns="0" rtlCol="0" anchor="t"/>
          <a:lstStyle/>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"version": "a1b2c3d",</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"skills":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"billing/SKILL.md":</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"---\nname: billing\ndescription: Invoices,</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balances and refunds.\n---\n# Billing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"billing/references/refunds.md":</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 Refund rules\nProrated by service days.\n",</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"reporting/SKILL.md": "# Reporting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  }</a:t>
            </a:r>
            <a:endParaRPr lang="en-US" sz="1000" dirty="0"/>
          </a:p>
          <a:p>
            <a:pPr indent="0" marL="0">
              <a:lnSpc>
                <a:spcPts val="1400"/>
              </a:lnSpc>
              <a:buNone/>
            </a:pPr>
            <a:r>
              <a:rPr lang="en-US" sz="1000" dirty="0">
                <a:solidFill>
                  <a:srgbClr val="3A4750"/>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6812280" y="1572768"/>
            <a:ext cx="4736592"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Four rules that matter</a:t>
            </a:r>
            <a:endParaRPr lang="en-US" sz="1400" dirty="0"/>
          </a:p>
        </p:txBody>
      </p:sp>
      <p:sp>
        <p:nvSpPr>
          <p:cNvPr id="7" name="Text 5"/>
          <p:cNvSpPr txBox="1"/>
          <p:nvPr/>
        </p:nvSpPr>
        <p:spPr>
          <a:xfrm>
            <a:off x="6812280" y="1938528"/>
            <a:ext cx="4736592" cy="22860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3A4750"/>
                </a:solidFill>
                <a:latin typeface="Calibri" pitchFamily="34" charset="0"/>
                <a:ea typeface="Calibri" pitchFamily="34" charset="-122"/>
                <a:cs typeface="Calibri" pitchFamily="34" charset="-120"/>
              </a:rPr>
              <a:t>Flat, not nested. One key per file, and walk every level — a skill is a directory, and its reference files matter as much as SKILL.md.</a:t>
            </a:r>
            <a:endParaRPr lang="en-US" sz="1200" dirty="0"/>
          </a:p>
          <a:p>
            <a:pPr marL="342900" indent="-342900">
              <a:spcAft>
                <a:spcPts val="800"/>
              </a:spcAft>
              <a:buSzPct val="100000"/>
              <a:buChar char="•"/>
            </a:pPr>
            <a:r>
              <a:rPr lang="en-US" sz="1200" dirty="0">
                <a:solidFill>
                  <a:srgbClr val="3A4750"/>
                </a:solidFill>
                <a:latin typeface="Calibri" pitchFamily="34" charset="0"/>
                <a:ea typeface="Calibri" pitchFamily="34" charset="-122"/>
                <a:cs typeface="Calibri" pitchFamily="34" charset="-120"/>
              </a:rPr>
              <a:t>Full text, never truncated. A developer edits this content and sends it back; a truncated file becomes a destructive edit.</a:t>
            </a:r>
            <a:endParaRPr lang="en-US" sz="1200" dirty="0"/>
          </a:p>
          <a:p>
            <a:pPr marL="342900" indent="-342900">
              <a:spcAft>
                <a:spcPts val="800"/>
              </a:spcAft>
              <a:buSzPct val="100000"/>
              <a:buChar char="•"/>
            </a:pPr>
            <a:r>
              <a:rPr lang="en-US" sz="1200" dirty="0">
                <a:solidFill>
                  <a:srgbClr val="3A4750"/>
                </a:solidFill>
                <a:latin typeface="Calibri" pitchFamily="34" charset="0"/>
                <a:ea typeface="Calibri" pitchFamily="34" charset="-122"/>
                <a:cs typeface="Calibri" pitchFamily="34" charset="-120"/>
              </a:rPr>
              <a:t>{} is a valid answer — an agent with no skills is a supported configuration. If you cannot read your own directory, return 5xx, never an empty map.</a:t>
            </a:r>
            <a:endParaRPr lang="en-US" sz="1200" dirty="0"/>
          </a:p>
          <a:p>
            <a:pPr marL="342900" indent="-342900">
              <a:spcAft>
                <a:spcPts val="800"/>
              </a:spcAft>
              <a:buSzPct val="100000"/>
              <a:buChar char="•"/>
            </a:pPr>
            <a:r>
              <a:rPr lang="en-US" sz="1200" dirty="0">
                <a:solidFill>
                  <a:srgbClr val="3A4750"/>
                </a:solidFill>
                <a:latin typeface="Calibri" pitchFamily="34" charset="0"/>
                <a:ea typeface="Calibri" pitchFamily="34" charset="-122"/>
                <a:cs typeface="Calibri" pitchFamily="34" charset="-120"/>
              </a:rPr>
              <a:t>version moves whenever your answers would move: a skill edit, a model swap, a prompt change, a redeploy. A constant is worse than nothing.</a:t>
            </a:r>
            <a:endParaRPr lang="en-US" sz="1200" dirty="0"/>
          </a:p>
        </p:txBody>
      </p:sp>
      <p:sp>
        <p:nvSpPr>
          <p:cNvPr id="8" name="Text 6"/>
          <p:cNvSpPr txBox="1"/>
          <p:nvPr/>
        </p:nvSpPr>
        <p:spPr>
          <a:xfrm>
            <a:off x="640080" y="4315968"/>
            <a:ext cx="10911535"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The skills override has three states — test for the key, not for truthiness</a:t>
            </a:r>
            <a:endParaRPr lang="en-US" sz="1400" dirty="0"/>
          </a:p>
        </p:txBody>
      </p:sp>
      <p:sp>
        <p:nvSpPr>
          <p:cNvPr id="9" name="Shape 7"/>
          <p:cNvSpPr/>
          <p:nvPr/>
        </p:nvSpPr>
        <p:spPr>
          <a:xfrm>
            <a:off x="640080" y="4681728"/>
            <a:ext cx="3511296" cy="1298448"/>
          </a:xfrm>
          <a:prstGeom prst="roundRect">
            <a:avLst>
              <a:gd name="adj" fmla="val 5634"/>
            </a:avLst>
          </a:prstGeom>
          <a:solidFill>
            <a:srgbClr val="FFFFFF"/>
          </a:solidFill>
          <a:ln w="12700">
            <a:solidFill>
              <a:srgbClr val="E4EAEE"/>
            </a:solidFill>
            <a:prstDash val="solid"/>
          </a:ln>
        </p:spPr>
      </p:sp>
      <p:sp>
        <p:nvSpPr>
          <p:cNvPr id="10" name="Text 8"/>
          <p:cNvSpPr txBox="1"/>
          <p:nvPr/>
        </p:nvSpPr>
        <p:spPr>
          <a:xfrm>
            <a:off x="841248" y="4809744"/>
            <a:ext cx="3108960" cy="256032"/>
          </a:xfrm>
          <a:prstGeom prst="rect">
            <a:avLst/>
          </a:prstGeom>
          <a:noFill/>
          <a:ln/>
        </p:spPr>
        <p:txBody>
          <a:bodyPr wrap="square" lIns="0" tIns="0" rIns="0" bIns="0" rtlCol="0" anchor="ctr"/>
          <a:lstStyle/>
          <a:p>
            <a:pPr indent="0" marL="0">
              <a:buNone/>
            </a:pPr>
            <a:r>
              <a:rPr lang="en-US" sz="1250" b="1" dirty="0">
                <a:solidFill>
                  <a:srgbClr val="01606B"/>
                </a:solidFill>
                <a:latin typeface="Courier New" pitchFamily="34" charset="0"/>
                <a:ea typeface="Courier New" pitchFamily="34" charset="-122"/>
                <a:cs typeface="Courier New" pitchFamily="34" charset="-120"/>
              </a:rPr>
              <a:t>key absent</a:t>
            </a:r>
            <a:endParaRPr lang="en-US" sz="1250" dirty="0"/>
          </a:p>
        </p:txBody>
      </p:sp>
      <p:sp>
        <p:nvSpPr>
          <p:cNvPr id="11" name="Text 9"/>
          <p:cNvSpPr txBox="1"/>
          <p:nvPr/>
        </p:nvSpPr>
        <p:spPr>
          <a:xfrm>
            <a:off x="841248" y="5102352"/>
            <a:ext cx="3108960" cy="777240"/>
          </a:xfrm>
          <a:prstGeom prst="rect">
            <a:avLst/>
          </a:prstGeom>
          <a:noFill/>
          <a:ln/>
        </p:spPr>
        <p:txBody>
          <a:bodyPr wrap="square" lIns="0" tIns="0" rIns="0" bIns="0" rtlCol="0" anchor="ctr"/>
          <a:lstStyle/>
          <a:p>
            <a:pPr indent="0" marL="0">
              <a:buNone/>
            </a:pPr>
            <a:r>
              <a:rPr lang="en-US" sz="1150" dirty="0">
                <a:solidFill>
                  <a:srgbClr val="3A4750"/>
                </a:solidFill>
                <a:latin typeface="Calibri" pitchFamily="34" charset="0"/>
                <a:ea typeface="Calibri" pitchFamily="34" charset="-122"/>
                <a:cs typeface="Calibri" pitchFamily="34" charset="-120"/>
              </a:rPr>
              <a:t>Use your own files, exactly as normal.</a:t>
            </a:r>
            <a:endParaRPr lang="en-US" sz="1150" dirty="0"/>
          </a:p>
        </p:txBody>
      </p:sp>
      <p:sp>
        <p:nvSpPr>
          <p:cNvPr id="12" name="Shape 10"/>
          <p:cNvSpPr/>
          <p:nvPr/>
        </p:nvSpPr>
        <p:spPr>
          <a:xfrm>
            <a:off x="4334256" y="4681728"/>
            <a:ext cx="3511296" cy="1298448"/>
          </a:xfrm>
          <a:prstGeom prst="roundRect">
            <a:avLst>
              <a:gd name="adj" fmla="val 5634"/>
            </a:avLst>
          </a:prstGeom>
          <a:solidFill>
            <a:srgbClr val="FFFFFF"/>
          </a:solidFill>
          <a:ln w="12700">
            <a:solidFill>
              <a:srgbClr val="E4EAEE"/>
            </a:solidFill>
            <a:prstDash val="solid"/>
          </a:ln>
        </p:spPr>
      </p:sp>
      <p:sp>
        <p:nvSpPr>
          <p:cNvPr id="13" name="Text 11"/>
          <p:cNvSpPr txBox="1"/>
          <p:nvPr/>
        </p:nvSpPr>
        <p:spPr>
          <a:xfrm>
            <a:off x="4535424" y="4809744"/>
            <a:ext cx="3108960" cy="256032"/>
          </a:xfrm>
          <a:prstGeom prst="rect">
            <a:avLst/>
          </a:prstGeom>
          <a:noFill/>
          <a:ln/>
        </p:spPr>
        <p:txBody>
          <a:bodyPr wrap="square" lIns="0" tIns="0" rIns="0" bIns="0" rtlCol="0" anchor="ctr"/>
          <a:lstStyle/>
          <a:p>
            <a:pPr indent="0" marL="0">
              <a:buNone/>
            </a:pPr>
            <a:r>
              <a:rPr lang="en-US" sz="1250" b="1" dirty="0">
                <a:solidFill>
                  <a:srgbClr val="01606B"/>
                </a:solidFill>
                <a:latin typeface="Courier New" pitchFamily="34" charset="0"/>
                <a:ea typeface="Courier New" pitchFamily="34" charset="-122"/>
                <a:cs typeface="Courier New" pitchFamily="34" charset="-120"/>
              </a:rPr>
              <a:t>a populated map</a:t>
            </a:r>
            <a:endParaRPr lang="en-US" sz="1250" dirty="0"/>
          </a:p>
        </p:txBody>
      </p:sp>
      <p:sp>
        <p:nvSpPr>
          <p:cNvPr id="14" name="Text 12"/>
          <p:cNvSpPr txBox="1"/>
          <p:nvPr/>
        </p:nvSpPr>
        <p:spPr>
          <a:xfrm>
            <a:off x="4535424" y="5102352"/>
            <a:ext cx="3108960" cy="777240"/>
          </a:xfrm>
          <a:prstGeom prst="rect">
            <a:avLst/>
          </a:prstGeom>
          <a:noFill/>
          <a:ln/>
        </p:spPr>
        <p:txBody>
          <a:bodyPr wrap="square" lIns="0" tIns="0" rIns="0" bIns="0" rtlCol="0" anchor="ctr"/>
          <a:lstStyle/>
          <a:p>
            <a:pPr indent="0" marL="0">
              <a:buNone/>
            </a:pPr>
            <a:r>
              <a:rPr lang="en-US" sz="1150" dirty="0">
                <a:solidFill>
                  <a:srgbClr val="3A4750"/>
                </a:solidFill>
                <a:latin typeface="Calibri" pitchFamily="34" charset="0"/>
                <a:ea typeface="Calibri" pitchFamily="34" charset="-122"/>
                <a:cs typeface="Calibri" pitchFamily="34" charset="-120"/>
              </a:rPr>
              <a:t>Use these files and only these, for this one call. Replacement, not a patch — and never persisted.</a:t>
            </a:r>
            <a:endParaRPr lang="en-US" sz="1150" dirty="0"/>
          </a:p>
        </p:txBody>
      </p:sp>
      <p:sp>
        <p:nvSpPr>
          <p:cNvPr id="15" name="Shape 13"/>
          <p:cNvSpPr/>
          <p:nvPr/>
        </p:nvSpPr>
        <p:spPr>
          <a:xfrm>
            <a:off x="8028432" y="4681728"/>
            <a:ext cx="3511296" cy="1298448"/>
          </a:xfrm>
          <a:prstGeom prst="roundRect">
            <a:avLst>
              <a:gd name="adj" fmla="val 5634"/>
            </a:avLst>
          </a:prstGeom>
          <a:solidFill>
            <a:srgbClr val="FFFFFF"/>
          </a:solidFill>
          <a:ln w="12700">
            <a:solidFill>
              <a:srgbClr val="E4EAEE"/>
            </a:solidFill>
            <a:prstDash val="solid"/>
          </a:ln>
        </p:spPr>
      </p:sp>
      <p:sp>
        <p:nvSpPr>
          <p:cNvPr id="16" name="Text 14"/>
          <p:cNvSpPr txBox="1"/>
          <p:nvPr/>
        </p:nvSpPr>
        <p:spPr>
          <a:xfrm>
            <a:off x="8229600" y="4809744"/>
            <a:ext cx="3108960" cy="256032"/>
          </a:xfrm>
          <a:prstGeom prst="rect">
            <a:avLst/>
          </a:prstGeom>
          <a:noFill/>
          <a:ln/>
        </p:spPr>
        <p:txBody>
          <a:bodyPr wrap="square" lIns="0" tIns="0" rIns="0" bIns="0" rtlCol="0" anchor="ctr"/>
          <a:lstStyle/>
          <a:p>
            <a:pPr indent="0" marL="0">
              <a:buNone/>
            </a:pPr>
            <a:r>
              <a:rPr lang="en-US" sz="1250" b="1" dirty="0">
                <a:solidFill>
                  <a:srgbClr val="01606B"/>
                </a:solidFill>
                <a:latin typeface="Courier New" pitchFamily="34" charset="0"/>
                <a:ea typeface="Courier New" pitchFamily="34" charset="-122"/>
                <a:cs typeface="Courier New" pitchFamily="34" charset="-120"/>
              </a:rPr>
              <a:t>{}</a:t>
            </a:r>
            <a:endParaRPr lang="en-US" sz="1250" dirty="0"/>
          </a:p>
        </p:txBody>
      </p:sp>
      <p:sp>
        <p:nvSpPr>
          <p:cNvPr id="17" name="Text 15"/>
          <p:cNvSpPr txBox="1"/>
          <p:nvPr/>
        </p:nvSpPr>
        <p:spPr>
          <a:xfrm>
            <a:off x="8229600" y="5102352"/>
            <a:ext cx="3108960" cy="777240"/>
          </a:xfrm>
          <a:prstGeom prst="rect">
            <a:avLst/>
          </a:prstGeom>
          <a:noFill/>
          <a:ln/>
        </p:spPr>
        <p:txBody>
          <a:bodyPr wrap="square" lIns="0" tIns="0" rIns="0" bIns="0" rtlCol="0" anchor="ctr"/>
          <a:lstStyle/>
          <a:p>
            <a:pPr indent="0" marL="0">
              <a:buNone/>
            </a:pPr>
            <a:r>
              <a:rPr lang="en-US" sz="1150" dirty="0">
                <a:solidFill>
                  <a:srgbClr val="3A4750"/>
                </a:solidFill>
                <a:latin typeface="Calibri" pitchFamily="34" charset="0"/>
                <a:ea typeface="Calibri" pitchFamily="34" charset="-122"/>
                <a:cs typeface="Calibri" pitchFamily="34" charset="-120"/>
              </a:rPr>
              <a:t>Use no skill files at all. “Does it still work without the skill?” is a question people deliberately ask.</a:t>
            </a:r>
            <a:endParaRPr lang="en-US" sz="1150" dirty="0"/>
          </a:p>
        </p:txBody>
      </p:sp>
      <p:sp>
        <p:nvSpPr>
          <p:cNvPr id="18" name="Text 16"/>
          <p:cNvSpPr txBox="1"/>
          <p:nvPr/>
        </p:nvSpPr>
        <p:spPr>
          <a:xfrm>
            <a:off x="640080" y="6236208"/>
            <a:ext cx="10911535" cy="292608"/>
          </a:xfrm>
          <a:prstGeom prst="rect">
            <a:avLst/>
          </a:prstGeom>
          <a:noFill/>
          <a:ln/>
        </p:spPr>
        <p:txBody>
          <a:bodyPr wrap="square" lIns="0" tIns="0" rIns="0" bIns="0" rtlCol="0" anchor="ctr"/>
          <a:lstStyle/>
          <a:p>
            <a:pPr indent="0" marL="0">
              <a:buNone/>
            </a:pPr>
            <a:r>
              <a:rPr lang="en-US" sz="1100" i="1" dirty="0">
                <a:solidFill>
                  <a:srgbClr val="6B7784"/>
                </a:solidFill>
                <a:latin typeface="Calibri" pitchFamily="34" charset="0"/>
                <a:ea typeface="Calibri" pitchFamily="34" charset="-122"/>
                <a:cs typeface="Calibri" pitchFamily="34" charset="-120"/>
              </a:rPr>
              <a:t>Path keys are attacker-influenced strings: reject `..`, a leading `/`, backslashes, NUL bytes and empty keys with a 400 before they become filesystem paths.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Arial" pitchFamily="34" charset="0"/>
                <a:ea typeface="Arial" pitchFamily="34" charset="-122"/>
                <a:cs typeface="Arial" pitchFamily="34" charset="-120"/>
              </a:rPr>
              <a:t>PART 1 · THREE LEVELS</a:t>
            </a:r>
            <a:endParaRPr lang="en-US" sz="1100" dirty="0"/>
          </a:p>
        </p:txBody>
      </p:sp>
      <p:sp>
        <p:nvSpPr>
          <p:cNvPr id="3" name="Text 1"/>
          <p:cNvSpPr txBox="1"/>
          <p:nvPr/>
        </p:nvSpPr>
        <p:spPr>
          <a:xfrm>
            <a:off x="640080" y="658368"/>
            <a:ext cx="10911535"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You do not have to build all of it</a:t>
            </a:r>
            <a:endParaRPr lang="en-US" sz="3000" dirty="0"/>
          </a:p>
        </p:txBody>
      </p:sp>
      <p:sp>
        <p:nvSpPr>
          <p:cNvPr id="4" name="Text 2"/>
          <p:cNvSpPr txBox="1"/>
          <p:nvPr/>
        </p:nvSpPr>
        <p:spPr>
          <a:xfrm>
            <a:off x="640080" y="1298448"/>
            <a:ext cx="10911535" cy="274320"/>
          </a:xfrm>
          <a:prstGeom prst="rect">
            <a:avLst/>
          </a:prstGeom>
          <a:noFill/>
          <a:ln/>
        </p:spPr>
        <p:txBody>
          <a:bodyPr wrap="square" lIns="0" tIns="0" rIns="0" bIns="0" rtlCol="0" anchor="ctr"/>
          <a:lstStyle/>
          <a:p>
            <a:pPr indent="0" marL="0">
              <a:buNone/>
            </a:pPr>
            <a:r>
              <a:rPr lang="en-US" sz="1300" dirty="0">
                <a:solidFill>
                  <a:srgbClr val="6B7784"/>
                </a:solidFill>
                <a:latin typeface="Calibri" pitchFamily="34" charset="0"/>
                <a:ea typeface="Calibri" pitchFamily="34" charset="-122"/>
                <a:cs typeface="Calibri" pitchFamily="34" charset="-120"/>
              </a:rPr>
              <a:t>The platform works with what you give it, and tells you what you are missing rather than refusing to start.</a:t>
            </a:r>
            <a:endParaRPr lang="en-US" sz="1300" dirty="0"/>
          </a:p>
        </p:txBody>
      </p:sp>
      <p:sp>
        <p:nvSpPr>
          <p:cNvPr id="5" name="Shape 3"/>
          <p:cNvSpPr/>
          <p:nvPr/>
        </p:nvSpPr>
        <p:spPr>
          <a:xfrm>
            <a:off x="640080" y="3063240"/>
            <a:ext cx="3511296" cy="2651760"/>
          </a:xfrm>
          <a:prstGeom prst="roundRect">
            <a:avLst>
              <a:gd name="adj" fmla="val 2759"/>
            </a:avLst>
          </a:prstGeom>
          <a:solidFill>
            <a:srgbClr val="F1F4F6"/>
          </a:solidFill>
          <a:ln w="12700">
            <a:solidFill>
              <a:srgbClr val="E4EAEE"/>
            </a:solidFill>
            <a:prstDash val="solid"/>
          </a:ln>
        </p:spPr>
      </p:sp>
      <p:sp>
        <p:nvSpPr>
          <p:cNvPr id="6" name="Shape 4"/>
          <p:cNvSpPr/>
          <p:nvPr/>
        </p:nvSpPr>
        <p:spPr>
          <a:xfrm>
            <a:off x="859536" y="3282696"/>
            <a:ext cx="402336" cy="402336"/>
          </a:xfrm>
          <a:prstGeom prst="roundRect">
            <a:avLst>
              <a:gd name="adj" fmla="val 22727"/>
            </a:avLst>
          </a:prstGeom>
          <a:solidFill>
            <a:srgbClr val="028090"/>
          </a:solidFill>
          <a:ln w="12700">
            <a:solidFill>
              <a:srgbClr val="028090"/>
            </a:solidFill>
            <a:prstDash val="solid"/>
          </a:ln>
        </p:spPr>
      </p:sp>
      <p:sp>
        <p:nvSpPr>
          <p:cNvPr id="7" name="Text 5"/>
          <p:cNvSpPr txBox="1"/>
          <p:nvPr/>
        </p:nvSpPr>
        <p:spPr>
          <a:xfrm>
            <a:off x="859536" y="3282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6"/>
          <p:cNvSpPr txBox="1"/>
          <p:nvPr/>
        </p:nvSpPr>
        <p:spPr>
          <a:xfrm>
            <a:off x="1389888" y="3246120"/>
            <a:ext cx="2560320" cy="548640"/>
          </a:xfrm>
          <a:prstGeom prst="rect">
            <a:avLst/>
          </a:prstGeom>
          <a:noFill/>
          <a:ln/>
        </p:spPr>
        <p:txBody>
          <a:bodyPr wrap="square" lIns="0" tIns="0" rIns="0" bIns="0" rtlCol="0" anchor="ctr"/>
          <a:lstStyle/>
          <a:p>
            <a:pPr indent="0" marL="0">
              <a:buNone/>
            </a:pPr>
            <a:r>
              <a:rPr lang="en-US" sz="1250" b="1" dirty="0">
                <a:solidFill>
                  <a:srgbClr val="1F2933"/>
                </a:solidFill>
                <a:latin typeface="Arial" pitchFamily="34" charset="0"/>
                <a:ea typeface="Arial" pitchFamily="34" charset="-122"/>
                <a:cs typeface="Arial" pitchFamily="34" charset="-120"/>
              </a:rPr>
              <a:t>An OpenAI-compatible</a:t>
            </a:r>
            <a:endParaRPr lang="en-US" sz="1250" dirty="0"/>
          </a:p>
          <a:p>
            <a:pPr indent="0" marL="0">
              <a:buNone/>
            </a:pPr>
            <a:r>
              <a:rPr lang="en-US" sz="1250" b="1" dirty="0">
                <a:solidFill>
                  <a:srgbClr val="1F2933"/>
                </a:solidFill>
                <a:latin typeface="Arial" pitchFamily="34" charset="0"/>
                <a:ea typeface="Arial" pitchFamily="34" charset="-122"/>
                <a:cs typeface="Arial" pitchFamily="34" charset="-120"/>
              </a:rPr>
              <a:t>chat endpoint</a:t>
            </a:r>
            <a:endParaRPr lang="en-US" sz="1250" dirty="0"/>
          </a:p>
        </p:txBody>
      </p:sp>
      <p:sp>
        <p:nvSpPr>
          <p:cNvPr id="9" name="Text 7"/>
          <p:cNvSpPr txBox="1"/>
          <p:nvPr/>
        </p:nvSpPr>
        <p:spPr>
          <a:xfrm>
            <a:off x="859536" y="3849624"/>
            <a:ext cx="3072384" cy="237744"/>
          </a:xfrm>
          <a:prstGeom prst="rect">
            <a:avLst/>
          </a:prstGeom>
          <a:noFill/>
          <a:ln/>
        </p:spPr>
        <p:txBody>
          <a:bodyPr wrap="square" lIns="0" tIns="0" rIns="0" bIns="0" rtlCol="0" anchor="ctr"/>
          <a:lstStyle/>
          <a:p>
            <a:pPr indent="0" marL="0">
              <a:buNone/>
            </a:pPr>
            <a:r>
              <a:rPr lang="en-US" sz="1050" i="1" dirty="0">
                <a:solidFill>
                  <a:srgbClr val="6B7784"/>
                </a:solidFill>
                <a:latin typeface="Calibri" pitchFamily="34" charset="0"/>
                <a:ea typeface="Calibri" pitchFamily="34" charset="-122"/>
                <a:cs typeface="Calibri" pitchFamily="34" charset="-120"/>
              </a:rPr>
              <a:t>What most agents already have</a:t>
            </a:r>
            <a:endParaRPr lang="en-US" sz="1050" dirty="0"/>
          </a:p>
        </p:txBody>
      </p:sp>
      <p:sp>
        <p:nvSpPr>
          <p:cNvPr id="10" name="Text 8"/>
          <p:cNvSpPr txBox="1"/>
          <p:nvPr/>
        </p:nvSpPr>
        <p:spPr>
          <a:xfrm>
            <a:off x="859536" y="4178808"/>
            <a:ext cx="3072384" cy="219456"/>
          </a:xfrm>
          <a:prstGeom prst="rect">
            <a:avLst/>
          </a:prstGeom>
          <a:noFill/>
          <a:ln/>
        </p:spPr>
        <p:txBody>
          <a:bodyPr wrap="square" lIns="0" tIns="0" rIns="0" bIns="0" rtlCol="0" anchor="ctr"/>
          <a:lstStyle/>
          <a:p>
            <a:pPr indent="0" marL="0">
              <a:buNone/>
            </a:pPr>
            <a:r>
              <a:rPr lang="en-US" sz="950" b="1" spc="200" kern="0" dirty="0">
                <a:solidFill>
                  <a:srgbClr val="028090"/>
                </a:solidFill>
                <a:latin typeface="Arial" pitchFamily="34" charset="0"/>
                <a:ea typeface="Arial" pitchFamily="34" charset="-122"/>
                <a:cs typeface="Arial" pitchFamily="34" charset="-120"/>
              </a:rPr>
              <a:t>YOU GET</a:t>
            </a:r>
            <a:endParaRPr lang="en-US" sz="950" dirty="0"/>
          </a:p>
        </p:txBody>
      </p:sp>
      <p:sp>
        <p:nvSpPr>
          <p:cNvPr id="11" name="Text 9"/>
          <p:cNvSpPr txBox="1"/>
          <p:nvPr/>
        </p:nvSpPr>
        <p:spPr>
          <a:xfrm>
            <a:off x="859536" y="4398264"/>
            <a:ext cx="3072384" cy="310896"/>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Evaluation</a:t>
            </a:r>
            <a:endParaRPr lang="en-US" sz="1700" dirty="0"/>
          </a:p>
        </p:txBody>
      </p:sp>
      <p:sp>
        <p:nvSpPr>
          <p:cNvPr id="12" name="Text 10"/>
          <p:cNvSpPr txBox="1"/>
          <p:nvPr/>
        </p:nvSpPr>
        <p:spPr>
          <a:xfrm>
            <a:off x="859536" y="4837176"/>
            <a:ext cx="3072384" cy="694944"/>
          </a:xfrm>
          <a:prstGeom prst="rect">
            <a:avLst/>
          </a:prstGeom>
          <a:noFill/>
          <a:ln/>
        </p:spPr>
        <p:txBody>
          <a:bodyPr wrap="square" lIns="0" tIns="0" rIns="0" bIns="0" rtlCol="0" anchor="ctr"/>
          <a:lstStyle/>
          <a:p>
            <a:pPr indent="0" marL="0">
              <a:buNone/>
            </a:pPr>
            <a:r>
              <a:rPr lang="en-US" sz="1150" dirty="0">
                <a:solidFill>
                  <a:srgbClr val="3A4750"/>
                </a:solidFill>
                <a:latin typeface="Calibri" pitchFamily="34" charset="0"/>
                <a:ea typeface="Calibri" pitchFamily="34" charset="-122"/>
                <a:cs typeface="Calibri" pitchFamily="34" charset="-120"/>
              </a:rPr>
              <a:t>Run an eval set and see the score, the answers and the judge's verdicts — plus the slice of the playground that only needs an answer.</a:t>
            </a:r>
            <a:endParaRPr lang="en-US" sz="1150" dirty="0"/>
          </a:p>
        </p:txBody>
      </p:sp>
      <p:sp>
        <p:nvSpPr>
          <p:cNvPr id="13" name="Shape 11"/>
          <p:cNvSpPr/>
          <p:nvPr/>
        </p:nvSpPr>
        <p:spPr>
          <a:xfrm>
            <a:off x="4334256" y="2468880"/>
            <a:ext cx="3511296" cy="3246120"/>
          </a:xfrm>
          <a:prstGeom prst="roundRect">
            <a:avLst>
              <a:gd name="adj" fmla="val 2254"/>
            </a:avLst>
          </a:prstGeom>
          <a:solidFill>
            <a:srgbClr val="D9EDEE"/>
          </a:solidFill>
          <a:ln w="12700">
            <a:solidFill>
              <a:srgbClr val="BFE0E2"/>
            </a:solidFill>
            <a:prstDash val="solid"/>
          </a:ln>
        </p:spPr>
      </p:sp>
      <p:sp>
        <p:nvSpPr>
          <p:cNvPr id="14" name="Shape 12"/>
          <p:cNvSpPr/>
          <p:nvPr/>
        </p:nvSpPr>
        <p:spPr>
          <a:xfrm>
            <a:off x="4553712" y="2688336"/>
            <a:ext cx="402336" cy="402336"/>
          </a:xfrm>
          <a:prstGeom prst="roundRect">
            <a:avLst>
              <a:gd name="adj" fmla="val 22727"/>
            </a:avLst>
          </a:prstGeom>
          <a:solidFill>
            <a:srgbClr val="028090"/>
          </a:solidFill>
          <a:ln w="12700">
            <a:solidFill>
              <a:srgbClr val="028090"/>
            </a:solidFill>
            <a:prstDash val="solid"/>
          </a:ln>
        </p:spPr>
      </p:sp>
      <p:sp>
        <p:nvSpPr>
          <p:cNvPr id="15" name="Text 13"/>
          <p:cNvSpPr txBox="1"/>
          <p:nvPr/>
        </p:nvSpPr>
        <p:spPr>
          <a:xfrm>
            <a:off x="4553712" y="2688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6" name="Text 14"/>
          <p:cNvSpPr txBox="1"/>
          <p:nvPr/>
        </p:nvSpPr>
        <p:spPr>
          <a:xfrm>
            <a:off x="5084064" y="2651760"/>
            <a:ext cx="2560320" cy="548640"/>
          </a:xfrm>
          <a:prstGeom prst="rect">
            <a:avLst/>
          </a:prstGeom>
          <a:noFill/>
          <a:ln/>
        </p:spPr>
        <p:txBody>
          <a:bodyPr wrap="square" lIns="0" tIns="0" rIns="0" bIns="0" rtlCol="0" anchor="ctr"/>
          <a:lstStyle/>
          <a:p>
            <a:pPr indent="0" marL="0">
              <a:buNone/>
            </a:pPr>
            <a:r>
              <a:rPr lang="en-US" sz="1250" b="1" dirty="0">
                <a:solidFill>
                  <a:srgbClr val="1F2933"/>
                </a:solidFill>
                <a:latin typeface="Arial" pitchFamily="34" charset="0"/>
                <a:ea typeface="Arial" pitchFamily="34" charset="-122"/>
                <a:cs typeface="Arial" pitchFamily="34" charset="-120"/>
              </a:rPr>
              <a:t>+ the skills endpoint</a:t>
            </a:r>
            <a:endParaRPr lang="en-US" sz="1250" dirty="0"/>
          </a:p>
          <a:p>
            <a:pPr indent="0" marL="0">
              <a:buNone/>
            </a:pPr>
            <a:r>
              <a:rPr lang="en-US" sz="1250" b="1" dirty="0">
                <a:solidFill>
                  <a:srgbClr val="1F2933"/>
                </a:solidFill>
                <a:latin typeface="Arial" pitchFamily="34" charset="0"/>
                <a:ea typeface="Arial" pitchFamily="34" charset="-122"/>
                <a:cs typeface="Arial" pitchFamily="34" charset="-120"/>
              </a:rPr>
              <a:t>+ honour the skills override</a:t>
            </a:r>
            <a:endParaRPr lang="en-US" sz="1250" dirty="0"/>
          </a:p>
        </p:txBody>
      </p:sp>
      <p:sp>
        <p:nvSpPr>
          <p:cNvPr id="17" name="Text 15"/>
          <p:cNvSpPr txBox="1"/>
          <p:nvPr/>
        </p:nvSpPr>
        <p:spPr>
          <a:xfrm>
            <a:off x="4553712" y="3255264"/>
            <a:ext cx="3072384" cy="237744"/>
          </a:xfrm>
          <a:prstGeom prst="rect">
            <a:avLst/>
          </a:prstGeom>
          <a:noFill/>
          <a:ln/>
        </p:spPr>
        <p:txBody>
          <a:bodyPr wrap="square" lIns="0" tIns="0" rIns="0" bIns="0" rtlCol="0" anchor="ctr"/>
          <a:lstStyle/>
          <a:p>
            <a:pPr indent="0" marL="0">
              <a:buNone/>
            </a:pPr>
            <a:r>
              <a:rPr lang="en-US" sz="1050" i="1" dirty="0">
                <a:solidFill>
                  <a:srgbClr val="6B7784"/>
                </a:solidFill>
                <a:latin typeface="Calibri" pitchFamily="34" charset="0"/>
                <a:ea typeface="Calibri" pitchFamily="34" charset="-122"/>
                <a:cs typeface="Calibri" pitchFamily="34" charset="-120"/>
              </a:rPr>
              <a:t>Two behaviours, one new route</a:t>
            </a:r>
            <a:endParaRPr lang="en-US" sz="1050" dirty="0"/>
          </a:p>
        </p:txBody>
      </p:sp>
      <p:sp>
        <p:nvSpPr>
          <p:cNvPr id="18" name="Text 16"/>
          <p:cNvSpPr txBox="1"/>
          <p:nvPr/>
        </p:nvSpPr>
        <p:spPr>
          <a:xfrm>
            <a:off x="4553712" y="3584448"/>
            <a:ext cx="3072384" cy="219456"/>
          </a:xfrm>
          <a:prstGeom prst="rect">
            <a:avLst/>
          </a:prstGeom>
          <a:noFill/>
          <a:ln/>
        </p:spPr>
        <p:txBody>
          <a:bodyPr wrap="square" lIns="0" tIns="0" rIns="0" bIns="0" rtlCol="0" anchor="ctr"/>
          <a:lstStyle/>
          <a:p>
            <a:pPr indent="0" marL="0">
              <a:buNone/>
            </a:pPr>
            <a:r>
              <a:rPr lang="en-US" sz="950" b="1" spc="200" kern="0" dirty="0">
                <a:solidFill>
                  <a:srgbClr val="028090"/>
                </a:solidFill>
                <a:latin typeface="Arial" pitchFamily="34" charset="0"/>
                <a:ea typeface="Arial" pitchFamily="34" charset="-122"/>
                <a:cs typeface="Arial" pitchFamily="34" charset="-120"/>
              </a:rPr>
              <a:t>YOU GET</a:t>
            </a:r>
            <a:endParaRPr lang="en-US" sz="950" dirty="0"/>
          </a:p>
        </p:txBody>
      </p:sp>
      <p:sp>
        <p:nvSpPr>
          <p:cNvPr id="19" name="Text 17"/>
          <p:cNvSpPr txBox="1"/>
          <p:nvPr/>
        </p:nvSpPr>
        <p:spPr>
          <a:xfrm>
            <a:off x="4553712" y="3803904"/>
            <a:ext cx="3072384" cy="310896"/>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The full playground</a:t>
            </a:r>
            <a:endParaRPr lang="en-US" sz="1700" dirty="0"/>
          </a:p>
        </p:txBody>
      </p:sp>
      <p:sp>
        <p:nvSpPr>
          <p:cNvPr id="20" name="Text 18"/>
          <p:cNvSpPr txBox="1"/>
          <p:nvPr/>
        </p:nvSpPr>
        <p:spPr>
          <a:xfrm>
            <a:off x="4553712" y="4242816"/>
            <a:ext cx="3072384" cy="1289304"/>
          </a:xfrm>
          <a:prstGeom prst="rect">
            <a:avLst/>
          </a:prstGeom>
          <a:noFill/>
          <a:ln/>
        </p:spPr>
        <p:txBody>
          <a:bodyPr wrap="square" lIns="0" tIns="0" rIns="0" bIns="0" rtlCol="0" anchor="ctr"/>
          <a:lstStyle/>
          <a:p>
            <a:pPr indent="0" marL="0">
              <a:buNone/>
            </a:pPr>
            <a:r>
              <a:rPr lang="en-US" sz="1150" dirty="0">
                <a:solidFill>
                  <a:srgbClr val="3A4750"/>
                </a:solidFill>
                <a:latin typeface="Calibri" pitchFamily="34" charset="0"/>
                <a:ea typeface="Calibri" pitchFamily="34" charset="-122"/>
                <a:cs typeface="Calibri" pitchFamily="34" charset="-120"/>
              </a:rPr>
              <a:t>View and edit a copy of your skill files, ask one question at a time against the edit, plus skill-coverage warnings and staleness detection when your server moves underneath you.</a:t>
            </a:r>
            <a:endParaRPr lang="en-US" sz="1150" dirty="0"/>
          </a:p>
        </p:txBody>
      </p:sp>
      <p:sp>
        <p:nvSpPr>
          <p:cNvPr id="21" name="Shape 19"/>
          <p:cNvSpPr/>
          <p:nvPr/>
        </p:nvSpPr>
        <p:spPr>
          <a:xfrm>
            <a:off x="8028432" y="1828800"/>
            <a:ext cx="3511296" cy="3886200"/>
          </a:xfrm>
          <a:prstGeom prst="roundRect">
            <a:avLst>
              <a:gd name="adj" fmla="val 2083"/>
            </a:avLst>
          </a:prstGeom>
          <a:solidFill>
            <a:srgbClr val="028090"/>
          </a:solidFill>
          <a:ln w="12700">
            <a:solidFill>
              <a:srgbClr val="028090"/>
            </a:solidFill>
            <a:prstDash val="solid"/>
          </a:ln>
        </p:spPr>
      </p:sp>
      <p:sp>
        <p:nvSpPr>
          <p:cNvPr id="22" name="Shape 20"/>
          <p:cNvSpPr/>
          <p:nvPr/>
        </p:nvSpPr>
        <p:spPr>
          <a:xfrm>
            <a:off x="8247888" y="2048256"/>
            <a:ext cx="402336" cy="402336"/>
          </a:xfrm>
          <a:prstGeom prst="roundRect">
            <a:avLst>
              <a:gd name="adj" fmla="val 22727"/>
            </a:avLst>
          </a:prstGeom>
          <a:solidFill>
            <a:srgbClr val="01606B"/>
          </a:solidFill>
          <a:ln w="12700">
            <a:solidFill>
              <a:srgbClr val="01606B"/>
            </a:solidFill>
            <a:prstDash val="solid"/>
          </a:ln>
        </p:spPr>
      </p:sp>
      <p:sp>
        <p:nvSpPr>
          <p:cNvPr id="23" name="Text 21"/>
          <p:cNvSpPr txBox="1"/>
          <p:nvPr/>
        </p:nvSpPr>
        <p:spPr>
          <a:xfrm>
            <a:off x="8247888" y="20482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4" name="Text 22"/>
          <p:cNvSpPr txBox="1"/>
          <p:nvPr/>
        </p:nvSpPr>
        <p:spPr>
          <a:xfrm>
            <a:off x="8778240" y="2011680"/>
            <a:ext cx="2560320" cy="54864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 traces in Langfuse under</a:t>
            </a:r>
            <a:endParaRPr lang="en-US" sz="1250" dirty="0"/>
          </a:p>
          <a:p>
            <a:pPr indent="0" marL="0">
              <a:buNone/>
            </a:pPr>
            <a:r>
              <a:rPr lang="en-US" sz="1250" b="1" dirty="0">
                <a:solidFill>
                  <a:srgbClr val="FFFFFF"/>
                </a:solidFill>
                <a:latin typeface="Arial" pitchFamily="34" charset="0"/>
                <a:ea typeface="Arial" pitchFamily="34" charset="-122"/>
                <a:cs typeface="Arial" pitchFamily="34" charset="-120"/>
              </a:rPr>
              <a:t>the trace id we send</a:t>
            </a:r>
            <a:endParaRPr lang="en-US" sz="1250" dirty="0"/>
          </a:p>
        </p:txBody>
      </p:sp>
      <p:sp>
        <p:nvSpPr>
          <p:cNvPr id="25" name="Text 23"/>
          <p:cNvSpPr txBox="1"/>
          <p:nvPr/>
        </p:nvSpPr>
        <p:spPr>
          <a:xfrm>
            <a:off x="8247888" y="2615184"/>
            <a:ext cx="3072384" cy="237744"/>
          </a:xfrm>
          <a:prstGeom prst="rect">
            <a:avLst/>
          </a:prstGeom>
          <a:noFill/>
          <a:ln/>
        </p:spPr>
        <p:txBody>
          <a:bodyPr wrap="square" lIns="0" tIns="0" rIns="0" bIns="0" rtlCol="0" anchor="ctr"/>
          <a:lstStyle/>
          <a:p>
            <a:pPr indent="0" marL="0">
              <a:buNone/>
            </a:pPr>
            <a:r>
              <a:rPr lang="en-US" sz="1050" i="1" dirty="0">
                <a:solidFill>
                  <a:srgbClr val="BFE7E8"/>
                </a:solidFill>
                <a:latin typeface="Calibri" pitchFamily="34" charset="0"/>
                <a:ea typeface="Calibri" pitchFamily="34" charset="-122"/>
                <a:cs typeface="Calibri" pitchFamily="34" charset="-120"/>
              </a:rPr>
              <a:t>Not a third endpoint</a:t>
            </a:r>
            <a:endParaRPr lang="en-US" sz="1050" dirty="0"/>
          </a:p>
        </p:txBody>
      </p:sp>
      <p:sp>
        <p:nvSpPr>
          <p:cNvPr id="26" name="Text 24"/>
          <p:cNvSpPr txBox="1"/>
          <p:nvPr/>
        </p:nvSpPr>
        <p:spPr>
          <a:xfrm>
            <a:off x="8247888" y="2944368"/>
            <a:ext cx="3072384" cy="219456"/>
          </a:xfrm>
          <a:prstGeom prst="rect">
            <a:avLst/>
          </a:prstGeom>
          <a:noFill/>
          <a:ln/>
        </p:spPr>
        <p:txBody>
          <a:bodyPr wrap="square" lIns="0" tIns="0" rIns="0" bIns="0" rtlCol="0" anchor="ctr"/>
          <a:lstStyle/>
          <a:p>
            <a:pPr indent="0" marL="0">
              <a:buNone/>
            </a:pPr>
            <a:r>
              <a:rPr lang="en-US" sz="950" b="1" spc="200" kern="0" dirty="0">
                <a:solidFill>
                  <a:srgbClr val="02C39A"/>
                </a:solidFill>
                <a:latin typeface="Arial" pitchFamily="34" charset="0"/>
                <a:ea typeface="Arial" pitchFamily="34" charset="-122"/>
                <a:cs typeface="Arial" pitchFamily="34" charset="-120"/>
              </a:rPr>
              <a:t>YOU GET</a:t>
            </a:r>
            <a:endParaRPr lang="en-US" sz="950" dirty="0"/>
          </a:p>
        </p:txBody>
      </p:sp>
      <p:sp>
        <p:nvSpPr>
          <p:cNvPr id="27" name="Text 25"/>
          <p:cNvSpPr txBox="1"/>
          <p:nvPr/>
        </p:nvSpPr>
        <p:spPr>
          <a:xfrm>
            <a:off x="8247888" y="3163824"/>
            <a:ext cx="3072384" cy="310896"/>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Optimization</a:t>
            </a:r>
            <a:endParaRPr lang="en-US" sz="1700" dirty="0"/>
          </a:p>
        </p:txBody>
      </p:sp>
      <p:sp>
        <p:nvSpPr>
          <p:cNvPr id="28" name="Text 26"/>
          <p:cNvSpPr txBox="1"/>
          <p:nvPr/>
        </p:nvSpPr>
        <p:spPr>
          <a:xfrm>
            <a:off x="8247888" y="3602736"/>
            <a:ext cx="3072384" cy="1929384"/>
          </a:xfrm>
          <a:prstGeom prst="rect">
            <a:avLst/>
          </a:prstGeom>
          <a:noFill/>
          <a:ln/>
        </p:spPr>
        <p:txBody>
          <a:bodyPr wrap="square" lIns="0" tIns="0" rIns="0" bIns="0" rtlCol="0" anchor="ctr"/>
          <a:lstStyle/>
          <a:p>
            <a:pPr indent="0" marL="0">
              <a:buNone/>
            </a:pPr>
            <a:r>
              <a:rPr lang="en-US" sz="1150" dirty="0">
                <a:solidFill>
                  <a:srgbClr val="DDF0F1"/>
                </a:solidFill>
                <a:latin typeface="Calibri" pitchFamily="34" charset="0"/>
                <a:ea typeface="Calibri" pitchFamily="34" charset="-122"/>
                <a:cs typeface="Calibri" pitchFamily="34" charset="-120"/>
              </a:rPr>
              <a:t>Hundreds of rollouts against candidate versions of a skill, scored and compared, with a validation gate that discards the edits that did not help. The platform verifies both behaviours before a run starts.</a:t>
            </a:r>
            <a:endParaRPr lang="en-US" sz="1150" dirty="0"/>
          </a:p>
        </p:txBody>
      </p:sp>
      <p:sp>
        <p:nvSpPr>
          <p:cNvPr id="29" name="Text 27"/>
          <p:cNvSpPr txBox="1"/>
          <p:nvPr/>
        </p:nvSpPr>
        <p:spPr>
          <a:xfrm>
            <a:off x="640080" y="6236208"/>
            <a:ext cx="10911535" cy="292608"/>
          </a:xfrm>
          <a:prstGeom prst="rect">
            <a:avLst/>
          </a:prstGeom>
          <a:noFill/>
          <a:ln/>
        </p:spPr>
        <p:txBody>
          <a:bodyPr wrap="square" lIns="0" tIns="0" rIns="0" bIns="0" rtlCol="0" anchor="ctr"/>
          <a:lstStyle/>
          <a:p>
            <a:pPr indent="0" marL="0">
              <a:buNone/>
            </a:pPr>
            <a:r>
              <a:rPr lang="en-US" sz="1100" i="1" dirty="0">
                <a:solidFill>
                  <a:srgbClr val="6B7784"/>
                </a:solidFill>
                <a:latin typeface="Calibri" pitchFamily="34" charset="0"/>
                <a:ea typeface="Calibri" pitchFamily="34" charset="-122"/>
                <a:cs typeface="Calibri" pitchFamily="34" charset="-120"/>
              </a:rPr>
              <a:t>Every level is checked before it is offered: the platform names what is missing rather than failing halfway through a run.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Arial" pitchFamily="34" charset="0"/>
                <a:ea typeface="Arial" pitchFamily="34" charset="-122"/>
                <a:cs typeface="Arial" pitchFamily="34" charset="-120"/>
              </a:rPr>
              <a:t>PART 1 · GETTING THERE</a:t>
            </a:r>
            <a:endParaRPr lang="en-US" sz="1100" dirty="0"/>
          </a:p>
        </p:txBody>
      </p:sp>
      <p:sp>
        <p:nvSpPr>
          <p:cNvPr id="3" name="Text 1"/>
          <p:cNvSpPr txBox="1"/>
          <p:nvPr/>
        </p:nvSpPr>
        <p:spPr>
          <a:xfrm>
            <a:off x="640080" y="658368"/>
            <a:ext cx="10911535"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You probably should not write this by hand</a:t>
            </a:r>
            <a:endParaRPr lang="en-US" sz="3000" dirty="0"/>
          </a:p>
        </p:txBody>
      </p:sp>
      <p:sp>
        <p:nvSpPr>
          <p:cNvPr id="4" name="Text 2"/>
          <p:cNvSpPr txBox="1"/>
          <p:nvPr/>
        </p:nvSpPr>
        <p:spPr>
          <a:xfrm>
            <a:off x="640080" y="1371600"/>
            <a:ext cx="5943600" cy="640080"/>
          </a:xfrm>
          <a:prstGeom prst="rect">
            <a:avLst/>
          </a:prstGeom>
          <a:noFill/>
          <a:ln/>
        </p:spPr>
        <p:txBody>
          <a:bodyPr wrap="square" lIns="0" tIns="0" rIns="0" bIns="0" rtlCol="0" anchor="ctr"/>
          <a:lstStyle/>
          <a:p>
            <a:pPr indent="0" marL="0">
              <a:buNone/>
            </a:pPr>
            <a:r>
              <a:rPr lang="en-US" sz="1350" dirty="0">
                <a:solidFill>
                  <a:srgbClr val="3A4750"/>
                </a:solidFill>
                <a:latin typeface="Calibri" pitchFamily="34" charset="0"/>
                <a:ea typeface="Calibri" pitchFamily="34" charset="-122"/>
                <a:cs typeface="Calibri" pitchFamily="34" charset="-120"/>
              </a:rPr>
              <a:t>The API reference is written to be handed to a machine: self-contained, no cross-references into our repo, with a reference implementation and an acceptance checklist at the end.</a:t>
            </a:r>
            <a:endParaRPr lang="en-US" sz="1350" dirty="0"/>
          </a:p>
        </p:txBody>
      </p:sp>
      <p:sp>
        <p:nvSpPr>
          <p:cNvPr id="5" name="Shape 3"/>
          <p:cNvSpPr/>
          <p:nvPr/>
        </p:nvSpPr>
        <p:spPr>
          <a:xfrm>
            <a:off x="640080" y="2212848"/>
            <a:ext cx="402336" cy="402336"/>
          </a:xfrm>
          <a:prstGeom prst="roundRect">
            <a:avLst>
              <a:gd name="adj" fmla="val 22727"/>
            </a:avLst>
          </a:prstGeom>
          <a:solidFill>
            <a:srgbClr val="028090"/>
          </a:solidFill>
          <a:ln w="12700">
            <a:solidFill>
              <a:srgbClr val="028090"/>
            </a:solidFill>
            <a:prstDash val="solid"/>
          </a:ln>
        </p:spPr>
      </p:sp>
      <p:sp>
        <p:nvSpPr>
          <p:cNvPr id="6" name="Text 4"/>
          <p:cNvSpPr txBox="1"/>
          <p:nvPr/>
        </p:nvSpPr>
        <p:spPr>
          <a:xfrm>
            <a:off x="640080"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243584" y="2194560"/>
            <a:ext cx="530352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Open the docs in the platform</a:t>
            </a:r>
            <a:endParaRPr lang="en-US" sz="1450" dirty="0"/>
          </a:p>
        </p:txBody>
      </p:sp>
      <p:sp>
        <p:nvSpPr>
          <p:cNvPr id="8" name="Text 6"/>
          <p:cNvSpPr txBox="1"/>
          <p:nvPr/>
        </p:nvSpPr>
        <p:spPr>
          <a:xfrm>
            <a:off x="1243584" y="2505456"/>
            <a:ext cx="5303520" cy="566928"/>
          </a:xfrm>
          <a:prstGeom prst="rect">
            <a:avLst/>
          </a:prstGeom>
          <a:noFill/>
          <a:ln/>
        </p:spPr>
        <p:txBody>
          <a:bodyPr wrap="square" lIns="0" tIns="0" rIns="0" bIns="0" rtlCol="0" anchor="ctr"/>
          <a:lstStyle/>
          <a:p>
            <a:pPr indent="0" marL="0">
              <a:buNone/>
            </a:pPr>
            <a:r>
              <a:rPr lang="en-US" sz="1200" dirty="0">
                <a:solidFill>
                  <a:srgbClr val="6B7784"/>
                </a:solidFill>
                <a:latin typeface="Calibri" pitchFamily="34" charset="0"/>
                <a:ea typeface="Calibri" pitchFamily="34" charset="-122"/>
                <a:cs typeface="Calibri" pitchFamily="34" charset="-120"/>
              </a:rPr>
              <a:t>Agent Server → API reference. One page, 13 sections, everything the contract requires.</a:t>
            </a:r>
            <a:endParaRPr lang="en-US" sz="1200" dirty="0"/>
          </a:p>
        </p:txBody>
      </p:sp>
      <p:sp>
        <p:nvSpPr>
          <p:cNvPr id="9" name="Shape 7"/>
          <p:cNvSpPr/>
          <p:nvPr/>
        </p:nvSpPr>
        <p:spPr>
          <a:xfrm>
            <a:off x="640080" y="3346704"/>
            <a:ext cx="402336" cy="402336"/>
          </a:xfrm>
          <a:prstGeom prst="roundRect">
            <a:avLst>
              <a:gd name="adj" fmla="val 22727"/>
            </a:avLst>
          </a:prstGeom>
          <a:solidFill>
            <a:srgbClr val="028090"/>
          </a:solidFill>
          <a:ln w="12700">
            <a:solidFill>
              <a:srgbClr val="028090"/>
            </a:solidFill>
            <a:prstDash val="solid"/>
          </a:ln>
        </p:spPr>
      </p:sp>
      <p:sp>
        <p:nvSpPr>
          <p:cNvPr id="10" name="Text 8"/>
          <p:cNvSpPr txBox="1"/>
          <p:nvPr/>
        </p:nvSpPr>
        <p:spPr>
          <a:xfrm>
            <a:off x="640080" y="33467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txBox="1"/>
          <p:nvPr/>
        </p:nvSpPr>
        <p:spPr>
          <a:xfrm>
            <a:off x="1243584" y="3328416"/>
            <a:ext cx="530352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Point your coding assistant at it</a:t>
            </a:r>
            <a:endParaRPr lang="en-US" sz="1450" dirty="0"/>
          </a:p>
        </p:txBody>
      </p:sp>
      <p:sp>
        <p:nvSpPr>
          <p:cNvPr id="12" name="Text 10"/>
          <p:cNvSpPr txBox="1"/>
          <p:nvPr/>
        </p:nvSpPr>
        <p:spPr>
          <a:xfrm>
            <a:off x="1243584" y="3639312"/>
            <a:ext cx="5303520" cy="566928"/>
          </a:xfrm>
          <a:prstGeom prst="rect">
            <a:avLst/>
          </a:prstGeom>
          <a:noFill/>
          <a:ln/>
        </p:spPr>
        <p:txBody>
          <a:bodyPr wrap="square" lIns="0" tIns="0" rIns="0" bIns="0" rtlCol="0" anchor="ctr"/>
          <a:lstStyle/>
          <a:p>
            <a:pPr indent="0" marL="0">
              <a:buNone/>
            </a:pPr>
            <a:r>
              <a:rPr lang="en-US" sz="1200" dirty="0">
                <a:solidFill>
                  <a:srgbClr val="6B7784"/>
                </a:solidFill>
                <a:latin typeface="Calibri" pitchFamily="34" charset="0"/>
                <a:ea typeface="Calibri" pitchFamily="34" charset="-122"/>
                <a:cs typeface="Calibri" pitchFamily="34" charset="-120"/>
              </a:rPr>
              <a:t>That page is the whole spec — it can implement your server against it without reading our codebase.</a:t>
            </a:r>
            <a:endParaRPr lang="en-US" sz="1200" dirty="0"/>
          </a:p>
        </p:txBody>
      </p:sp>
      <p:sp>
        <p:nvSpPr>
          <p:cNvPr id="13" name="Shape 11"/>
          <p:cNvSpPr/>
          <p:nvPr/>
        </p:nvSpPr>
        <p:spPr>
          <a:xfrm>
            <a:off x="640080" y="4480560"/>
            <a:ext cx="402336" cy="402336"/>
          </a:xfrm>
          <a:prstGeom prst="roundRect">
            <a:avLst>
              <a:gd name="adj" fmla="val 22727"/>
            </a:avLst>
          </a:prstGeom>
          <a:solidFill>
            <a:srgbClr val="028090"/>
          </a:solidFill>
          <a:ln w="12700">
            <a:solidFill>
              <a:srgbClr val="028090"/>
            </a:solidFill>
            <a:prstDash val="solid"/>
          </a:ln>
        </p:spPr>
      </p:sp>
      <p:sp>
        <p:nvSpPr>
          <p:cNvPr id="14" name="Text 12"/>
          <p:cNvSpPr txBox="1"/>
          <p:nvPr/>
        </p:nvSpPr>
        <p:spPr>
          <a:xfrm>
            <a:off x="64008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1243584" y="4462272"/>
            <a:ext cx="5303520" cy="274320"/>
          </a:xfrm>
          <a:prstGeom prst="rect">
            <a:avLst/>
          </a:prstGeom>
          <a:noFill/>
          <a:ln/>
        </p:spPr>
        <p:txBody>
          <a:bodyPr wrap="square" lIns="0" tIns="0" rIns="0" bIns="0" rtlCol="0" anchor="ctr"/>
          <a:lstStyle/>
          <a:p>
            <a:pPr indent="0" marL="0">
              <a:buNone/>
            </a:pPr>
            <a:r>
              <a:rPr lang="en-US" sz="1450" b="1" dirty="0">
                <a:solidFill>
                  <a:srgbClr val="1F2933"/>
                </a:solidFill>
                <a:latin typeface="Arial" pitchFamily="34" charset="0"/>
                <a:ea typeface="Arial" pitchFamily="34" charset="-122"/>
                <a:cs typeface="Arial" pitchFamily="34" charset="-120"/>
              </a:rPr>
              <a:t>Test your server, in the platform</a:t>
            </a:r>
            <a:endParaRPr lang="en-US" sz="1450" dirty="0"/>
          </a:p>
        </p:txBody>
      </p:sp>
      <p:sp>
        <p:nvSpPr>
          <p:cNvPr id="16" name="Text 14"/>
          <p:cNvSpPr txBox="1"/>
          <p:nvPr/>
        </p:nvSpPr>
        <p:spPr>
          <a:xfrm>
            <a:off x="1243584" y="4773168"/>
            <a:ext cx="5303520" cy="566928"/>
          </a:xfrm>
          <a:prstGeom prst="rect">
            <a:avLst/>
          </a:prstGeom>
          <a:noFill/>
          <a:ln/>
        </p:spPr>
        <p:txBody>
          <a:bodyPr wrap="square" lIns="0" tIns="0" rIns="0" bIns="0" rtlCol="0" anchor="ctr"/>
          <a:lstStyle/>
          <a:p>
            <a:pPr indent="0" marL="0">
              <a:buNone/>
            </a:pPr>
            <a:r>
              <a:rPr lang="en-US" sz="1200" dirty="0">
                <a:solidFill>
                  <a:srgbClr val="6B7784"/>
                </a:solidFill>
                <a:latin typeface="Calibri" pitchFamily="34" charset="0"/>
                <a:ea typeface="Calibri" pitchFamily="34" charset="-122"/>
                <a:cs typeface="Calibri" pitchFamily="34" charset="-120"/>
              </a:rPr>
              <a:t>The Test-your-server page sends a real question with a real skills override and tells you which level you have actually reached.</a:t>
            </a:r>
            <a:endParaRPr lang="en-US" sz="1200" dirty="0"/>
          </a:p>
        </p:txBody>
      </p:sp>
      <p:sp>
        <p:nvSpPr>
          <p:cNvPr id="17" name="Shape 15"/>
          <p:cNvSpPr/>
          <p:nvPr/>
        </p:nvSpPr>
        <p:spPr>
          <a:xfrm>
            <a:off x="6949440" y="1572768"/>
            <a:ext cx="4599432" cy="3931920"/>
          </a:xfrm>
          <a:prstGeom prst="roundRect">
            <a:avLst>
              <a:gd name="adj" fmla="val 1860"/>
            </a:avLst>
          </a:prstGeom>
          <a:solidFill>
            <a:srgbClr val="FFFFFF"/>
          </a:solidFill>
          <a:ln w="12700">
            <a:solidFill>
              <a:srgbClr val="E4EAEE"/>
            </a:solidFill>
            <a:prstDash val="solid"/>
          </a:ln>
        </p:spPr>
      </p:sp>
      <p:sp>
        <p:nvSpPr>
          <p:cNvPr id="18" name="Shape 16"/>
          <p:cNvSpPr/>
          <p:nvPr/>
        </p:nvSpPr>
        <p:spPr>
          <a:xfrm>
            <a:off x="6949440" y="1572768"/>
            <a:ext cx="4599432" cy="384048"/>
          </a:xfrm>
          <a:prstGeom prst="roundRect">
            <a:avLst>
              <a:gd name="adj" fmla="val 14286"/>
            </a:avLst>
          </a:prstGeom>
          <a:solidFill>
            <a:srgbClr val="F1F4F6"/>
          </a:solidFill>
          <a:ln w="12700">
            <a:solidFill>
              <a:srgbClr val="E4EAEE"/>
            </a:solidFill>
            <a:prstDash val="solid"/>
          </a:ln>
        </p:spPr>
      </p:sp>
      <p:sp>
        <p:nvSpPr>
          <p:cNvPr id="19" name="Shape 17"/>
          <p:cNvSpPr/>
          <p:nvPr/>
        </p:nvSpPr>
        <p:spPr>
          <a:xfrm>
            <a:off x="7095744" y="1709928"/>
            <a:ext cx="109728" cy="109728"/>
          </a:xfrm>
          <a:prstGeom prst="ellipse">
            <a:avLst/>
          </a:prstGeom>
          <a:solidFill>
            <a:srgbClr val="E06C5E"/>
          </a:solidFill>
          <a:ln w="12700">
            <a:solidFill>
              <a:srgbClr val="E06C5E"/>
            </a:solidFill>
            <a:prstDash val="solid"/>
          </a:ln>
        </p:spPr>
      </p:sp>
      <p:sp>
        <p:nvSpPr>
          <p:cNvPr id="20" name="Shape 18"/>
          <p:cNvSpPr/>
          <p:nvPr/>
        </p:nvSpPr>
        <p:spPr>
          <a:xfrm>
            <a:off x="7296912" y="1709928"/>
            <a:ext cx="109728" cy="109728"/>
          </a:xfrm>
          <a:prstGeom prst="ellipse">
            <a:avLst/>
          </a:prstGeom>
          <a:solidFill>
            <a:srgbClr val="E0B65E"/>
          </a:solidFill>
          <a:ln w="12700">
            <a:solidFill>
              <a:srgbClr val="E0B65E"/>
            </a:solidFill>
            <a:prstDash val="solid"/>
          </a:ln>
        </p:spPr>
      </p:sp>
      <p:sp>
        <p:nvSpPr>
          <p:cNvPr id="21" name="Shape 19"/>
          <p:cNvSpPr/>
          <p:nvPr/>
        </p:nvSpPr>
        <p:spPr>
          <a:xfrm>
            <a:off x="7498080" y="1709928"/>
            <a:ext cx="109728" cy="109728"/>
          </a:xfrm>
          <a:prstGeom prst="ellipse">
            <a:avLst/>
          </a:prstGeom>
          <a:solidFill>
            <a:srgbClr val="7FBF6A"/>
          </a:solidFill>
          <a:ln w="12700">
            <a:solidFill>
              <a:srgbClr val="7FBF6A"/>
            </a:solidFill>
            <a:prstDash val="solid"/>
          </a:ln>
        </p:spPr>
      </p:sp>
      <p:sp>
        <p:nvSpPr>
          <p:cNvPr id="22" name="Text 20"/>
          <p:cNvSpPr txBox="1"/>
          <p:nvPr/>
        </p:nvSpPr>
        <p:spPr>
          <a:xfrm>
            <a:off x="7772400" y="1609344"/>
            <a:ext cx="2194560" cy="292608"/>
          </a:xfrm>
          <a:prstGeom prst="rect">
            <a:avLst/>
          </a:prstGeom>
          <a:noFill/>
          <a:ln/>
        </p:spPr>
        <p:txBody>
          <a:bodyPr wrap="square" lIns="0" tIns="0" rIns="0" bIns="0" rtlCol="0" anchor="ctr"/>
          <a:lstStyle/>
          <a:p>
            <a:pPr indent="0" marL="0">
              <a:buNone/>
            </a:pPr>
            <a:r>
              <a:rPr lang="en-US" sz="1050" dirty="0">
                <a:solidFill>
                  <a:srgbClr val="6B7784"/>
                </a:solidFill>
                <a:latin typeface="Calibri" pitchFamily="34" charset="0"/>
                <a:ea typeface="Calibri" pitchFamily="34" charset="-122"/>
                <a:cs typeface="Calibri" pitchFamily="34" charset="-120"/>
              </a:rPr>
              <a:t>Documentation</a:t>
            </a:r>
            <a:endParaRPr lang="en-US" sz="1050" dirty="0"/>
          </a:p>
        </p:txBody>
      </p:sp>
      <p:sp>
        <p:nvSpPr>
          <p:cNvPr id="23" name="Shape 21"/>
          <p:cNvSpPr/>
          <p:nvPr/>
        </p:nvSpPr>
        <p:spPr>
          <a:xfrm>
            <a:off x="6949440" y="1956816"/>
            <a:ext cx="1691640" cy="3547872"/>
          </a:xfrm>
          <a:prstGeom prst="roundRect">
            <a:avLst>
              <a:gd name="adj" fmla="val 4324"/>
            </a:avLst>
          </a:prstGeom>
          <a:solidFill>
            <a:srgbClr val="FAFBFC"/>
          </a:solidFill>
          <a:ln w="12700">
            <a:solidFill>
              <a:srgbClr val="E4EAEE"/>
            </a:solidFill>
            <a:prstDash val="solid"/>
          </a:ln>
        </p:spPr>
      </p:sp>
      <p:sp>
        <p:nvSpPr>
          <p:cNvPr id="24" name="Text 22"/>
          <p:cNvSpPr txBox="1"/>
          <p:nvPr/>
        </p:nvSpPr>
        <p:spPr>
          <a:xfrm>
            <a:off x="7095744" y="2121408"/>
            <a:ext cx="1463040" cy="219456"/>
          </a:xfrm>
          <a:prstGeom prst="rect">
            <a:avLst/>
          </a:prstGeom>
          <a:noFill/>
          <a:ln/>
        </p:spPr>
        <p:txBody>
          <a:bodyPr wrap="square" lIns="0" tIns="0" rIns="0" bIns="0" rtlCol="0" anchor="ctr"/>
          <a:lstStyle/>
          <a:p>
            <a:pPr indent="0" marL="0">
              <a:buNone/>
            </a:pPr>
            <a:r>
              <a:rPr lang="en-US" sz="850" b="1" spc="100" kern="0" dirty="0">
                <a:solidFill>
                  <a:srgbClr val="6B7784"/>
                </a:solidFill>
                <a:latin typeface="Arial" pitchFamily="34" charset="0"/>
                <a:ea typeface="Arial" pitchFamily="34" charset="-122"/>
                <a:cs typeface="Arial" pitchFamily="34" charset="-120"/>
              </a:rPr>
              <a:t>AGENT SERVER</a:t>
            </a:r>
            <a:endParaRPr lang="en-US" sz="850" dirty="0"/>
          </a:p>
        </p:txBody>
      </p:sp>
      <p:sp>
        <p:nvSpPr>
          <p:cNvPr id="25" name="Shape 23"/>
          <p:cNvSpPr/>
          <p:nvPr/>
        </p:nvSpPr>
        <p:spPr>
          <a:xfrm>
            <a:off x="7022592" y="2395728"/>
            <a:ext cx="1554480" cy="310896"/>
          </a:xfrm>
          <a:prstGeom prst="roundRect">
            <a:avLst>
              <a:gd name="adj" fmla="val 14706"/>
            </a:avLst>
          </a:prstGeom>
          <a:solidFill>
            <a:srgbClr val="D9EDEE"/>
          </a:solidFill>
          <a:ln w="12700">
            <a:solidFill>
              <a:srgbClr val="D9EDEE"/>
            </a:solidFill>
            <a:prstDash val="solid"/>
          </a:ln>
        </p:spPr>
      </p:sp>
      <p:sp>
        <p:nvSpPr>
          <p:cNvPr id="26" name="Text 24"/>
          <p:cNvSpPr txBox="1"/>
          <p:nvPr/>
        </p:nvSpPr>
        <p:spPr>
          <a:xfrm>
            <a:off x="7114032" y="2395728"/>
            <a:ext cx="1463040" cy="310896"/>
          </a:xfrm>
          <a:prstGeom prst="rect">
            <a:avLst/>
          </a:prstGeom>
          <a:noFill/>
          <a:ln/>
        </p:spPr>
        <p:txBody>
          <a:bodyPr wrap="square" lIns="0" tIns="0" rIns="0" bIns="0" rtlCol="0" anchor="ctr"/>
          <a:lstStyle/>
          <a:p>
            <a:pPr indent="0" marL="0">
              <a:buNone/>
            </a:pPr>
            <a:r>
              <a:rPr lang="en-US" sz="1000" b="1" dirty="0">
                <a:solidFill>
                  <a:srgbClr val="01606B"/>
                </a:solidFill>
                <a:latin typeface="Calibri" pitchFamily="34" charset="0"/>
                <a:ea typeface="Calibri" pitchFamily="34" charset="-122"/>
                <a:cs typeface="Calibri" pitchFamily="34" charset="-120"/>
              </a:rPr>
              <a:t>API reference</a:t>
            </a:r>
            <a:endParaRPr lang="en-US" sz="1000" dirty="0"/>
          </a:p>
        </p:txBody>
      </p:sp>
      <p:sp>
        <p:nvSpPr>
          <p:cNvPr id="27" name="Text 25"/>
          <p:cNvSpPr txBox="1"/>
          <p:nvPr/>
        </p:nvSpPr>
        <p:spPr>
          <a:xfrm>
            <a:off x="7114032" y="2743200"/>
            <a:ext cx="1463040" cy="310896"/>
          </a:xfrm>
          <a:prstGeom prst="rect">
            <a:avLst/>
          </a:prstGeom>
          <a:noFill/>
          <a:ln/>
        </p:spPr>
        <p:txBody>
          <a:bodyPr wrap="square" lIns="0" tIns="0" rIns="0" bIns="0" rtlCol="0" anchor="ctr"/>
          <a:lstStyle/>
          <a:p>
            <a:pPr indent="0" marL="0">
              <a:buNone/>
            </a:pPr>
            <a:r>
              <a:rPr lang="en-US" sz="1000" dirty="0">
                <a:solidFill>
                  <a:srgbClr val="3A4750"/>
                </a:solidFill>
                <a:latin typeface="Calibri" pitchFamily="34" charset="0"/>
                <a:ea typeface="Calibri" pitchFamily="34" charset="-122"/>
                <a:cs typeface="Calibri" pitchFamily="34" charset="-120"/>
              </a:rPr>
              <a:t>Test your server</a:t>
            </a:r>
            <a:endParaRPr lang="en-US" sz="1000" dirty="0"/>
          </a:p>
        </p:txBody>
      </p:sp>
      <p:sp>
        <p:nvSpPr>
          <p:cNvPr id="28" name="Text 26"/>
          <p:cNvSpPr txBox="1"/>
          <p:nvPr/>
        </p:nvSpPr>
        <p:spPr>
          <a:xfrm>
            <a:off x="8823960" y="2157984"/>
            <a:ext cx="2560320" cy="274320"/>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Agent Server API</a:t>
            </a:r>
            <a:endParaRPr lang="en-US" sz="1300" dirty="0"/>
          </a:p>
        </p:txBody>
      </p:sp>
      <p:sp>
        <p:nvSpPr>
          <p:cNvPr id="29" name="Text 27"/>
          <p:cNvSpPr txBox="1"/>
          <p:nvPr/>
        </p:nvSpPr>
        <p:spPr>
          <a:xfrm>
            <a:off x="8823960" y="2542032"/>
            <a:ext cx="2606040" cy="256032"/>
          </a:xfrm>
          <a:prstGeom prst="rect">
            <a:avLst/>
          </a:prstGeom>
          <a:noFill/>
          <a:ln/>
        </p:spPr>
        <p:txBody>
          <a:bodyPr wrap="square" lIns="0" tIns="0" rIns="0" bIns="0" rtlCol="0" anchor="ctr"/>
          <a:lstStyle/>
          <a:p>
            <a:pPr indent="0" marL="0">
              <a:buNone/>
            </a:pPr>
            <a:r>
              <a:rPr lang="en-US" sz="1000" dirty="0">
                <a:solidFill>
                  <a:srgbClr val="6B7784"/>
                </a:solidFill>
                <a:latin typeface="Calibri" pitchFamily="34" charset="0"/>
                <a:ea typeface="Calibri" pitchFamily="34" charset="-122"/>
                <a:cs typeface="Calibri" pitchFamily="34" charset="-120"/>
              </a:rPr>
              <a:t>1  What each endpoint unlocks</a:t>
            </a:r>
            <a:endParaRPr lang="en-US" sz="1000" dirty="0"/>
          </a:p>
        </p:txBody>
      </p:sp>
      <p:sp>
        <p:nvSpPr>
          <p:cNvPr id="30" name="Text 28"/>
          <p:cNvSpPr txBox="1"/>
          <p:nvPr/>
        </p:nvSpPr>
        <p:spPr>
          <a:xfrm>
            <a:off x="8823960" y="2834640"/>
            <a:ext cx="2606040" cy="256032"/>
          </a:xfrm>
          <a:prstGeom prst="rect">
            <a:avLst/>
          </a:prstGeom>
          <a:noFill/>
          <a:ln/>
        </p:spPr>
        <p:txBody>
          <a:bodyPr wrap="square" lIns="0" tIns="0" rIns="0" bIns="0" rtlCol="0" anchor="ctr"/>
          <a:lstStyle/>
          <a:p>
            <a:pPr indent="0" marL="0">
              <a:buNone/>
            </a:pPr>
            <a:r>
              <a:rPr lang="en-US" sz="1000" dirty="0">
                <a:solidFill>
                  <a:srgbClr val="6B7784"/>
                </a:solidFill>
                <a:latin typeface="Calibri" pitchFamily="34" charset="0"/>
                <a:ea typeface="Calibri" pitchFamily="34" charset="-122"/>
                <a:cs typeface="Calibri" pitchFamily="34" charset="-120"/>
              </a:rPr>
              <a:t>3  Chat endpoint</a:t>
            </a:r>
            <a:endParaRPr lang="en-US" sz="1000" dirty="0"/>
          </a:p>
        </p:txBody>
      </p:sp>
      <p:sp>
        <p:nvSpPr>
          <p:cNvPr id="31" name="Text 29"/>
          <p:cNvSpPr txBox="1"/>
          <p:nvPr/>
        </p:nvSpPr>
        <p:spPr>
          <a:xfrm>
            <a:off x="8823960" y="3127248"/>
            <a:ext cx="2606040" cy="256032"/>
          </a:xfrm>
          <a:prstGeom prst="rect">
            <a:avLst/>
          </a:prstGeom>
          <a:noFill/>
          <a:ln/>
        </p:spPr>
        <p:txBody>
          <a:bodyPr wrap="square" lIns="0" tIns="0" rIns="0" bIns="0" rtlCol="0" anchor="ctr"/>
          <a:lstStyle/>
          <a:p>
            <a:pPr indent="0" marL="0">
              <a:buNone/>
            </a:pPr>
            <a:r>
              <a:rPr lang="en-US" sz="1000" dirty="0">
                <a:solidFill>
                  <a:srgbClr val="6B7784"/>
                </a:solidFill>
                <a:latin typeface="Calibri" pitchFamily="34" charset="0"/>
                <a:ea typeface="Calibri" pitchFamily="34" charset="-122"/>
                <a:cs typeface="Calibri" pitchFamily="34" charset="-120"/>
              </a:rPr>
              <a:t>4  Skills endpoint</a:t>
            </a:r>
            <a:endParaRPr lang="en-US" sz="1000" dirty="0"/>
          </a:p>
        </p:txBody>
      </p:sp>
      <p:sp>
        <p:nvSpPr>
          <p:cNvPr id="32" name="Text 30"/>
          <p:cNvSpPr txBox="1"/>
          <p:nvPr/>
        </p:nvSpPr>
        <p:spPr>
          <a:xfrm>
            <a:off x="8823960" y="3419856"/>
            <a:ext cx="2606040" cy="256032"/>
          </a:xfrm>
          <a:prstGeom prst="rect">
            <a:avLst/>
          </a:prstGeom>
          <a:noFill/>
          <a:ln/>
        </p:spPr>
        <p:txBody>
          <a:bodyPr wrap="square" lIns="0" tIns="0" rIns="0" bIns="0" rtlCol="0" anchor="ctr"/>
          <a:lstStyle/>
          <a:p>
            <a:pPr indent="0" marL="0">
              <a:buNone/>
            </a:pPr>
            <a:r>
              <a:rPr lang="en-US" sz="1000" dirty="0">
                <a:solidFill>
                  <a:srgbClr val="6B7784"/>
                </a:solidFill>
                <a:latin typeface="Calibri" pitchFamily="34" charset="0"/>
                <a:ea typeface="Calibri" pitchFamily="34" charset="-122"/>
                <a:cs typeface="Calibri" pitchFamily="34" charset="-120"/>
              </a:rPr>
              <a:t>5  The skills override, in detail</a:t>
            </a:r>
            <a:endParaRPr lang="en-US" sz="1000" dirty="0"/>
          </a:p>
        </p:txBody>
      </p:sp>
      <p:sp>
        <p:nvSpPr>
          <p:cNvPr id="33" name="Text 31"/>
          <p:cNvSpPr txBox="1"/>
          <p:nvPr/>
        </p:nvSpPr>
        <p:spPr>
          <a:xfrm>
            <a:off x="8823960" y="3712464"/>
            <a:ext cx="2606040" cy="256032"/>
          </a:xfrm>
          <a:prstGeom prst="rect">
            <a:avLst/>
          </a:prstGeom>
          <a:noFill/>
          <a:ln/>
        </p:spPr>
        <p:txBody>
          <a:bodyPr wrap="square" lIns="0" tIns="0" rIns="0" bIns="0" rtlCol="0" anchor="ctr"/>
          <a:lstStyle/>
          <a:p>
            <a:pPr indent="0" marL="0">
              <a:buNone/>
            </a:pPr>
            <a:r>
              <a:rPr lang="en-US" sz="1000" dirty="0">
                <a:solidFill>
                  <a:srgbClr val="6B7784"/>
                </a:solidFill>
                <a:latin typeface="Calibri" pitchFamily="34" charset="0"/>
                <a:ea typeface="Calibri" pitchFamily="34" charset="-122"/>
                <a:cs typeface="Calibri" pitchFamily="34" charset="-120"/>
              </a:rPr>
              <a:t>9  Errors, and what each causes</a:t>
            </a:r>
            <a:endParaRPr lang="en-US" sz="1000" dirty="0"/>
          </a:p>
        </p:txBody>
      </p:sp>
      <p:sp>
        <p:nvSpPr>
          <p:cNvPr id="34" name="Text 32"/>
          <p:cNvSpPr txBox="1"/>
          <p:nvPr/>
        </p:nvSpPr>
        <p:spPr>
          <a:xfrm>
            <a:off x="8823960" y="4005072"/>
            <a:ext cx="2606040" cy="256032"/>
          </a:xfrm>
          <a:prstGeom prst="rect">
            <a:avLst/>
          </a:prstGeom>
          <a:noFill/>
          <a:ln/>
        </p:spPr>
        <p:txBody>
          <a:bodyPr wrap="square" lIns="0" tIns="0" rIns="0" bIns="0" rtlCol="0" anchor="ctr"/>
          <a:lstStyle/>
          <a:p>
            <a:pPr indent="0" marL="0">
              <a:buNone/>
            </a:pPr>
            <a:r>
              <a:rPr lang="en-US" sz="1000" dirty="0">
                <a:solidFill>
                  <a:srgbClr val="6B7784"/>
                </a:solidFill>
                <a:latin typeface="Calibri" pitchFamily="34" charset="0"/>
                <a:ea typeface="Calibri" pitchFamily="34" charset="-122"/>
                <a:cs typeface="Calibri" pitchFamily="34" charset="-120"/>
              </a:rPr>
              <a:t>11  Acceptance checklist</a:t>
            </a:r>
            <a:endParaRPr lang="en-US" sz="1000" dirty="0"/>
          </a:p>
        </p:txBody>
      </p:sp>
      <p:sp>
        <p:nvSpPr>
          <p:cNvPr id="35" name="Text 33"/>
          <p:cNvSpPr txBox="1"/>
          <p:nvPr/>
        </p:nvSpPr>
        <p:spPr>
          <a:xfrm>
            <a:off x="8823960" y="4297680"/>
            <a:ext cx="2606040" cy="256032"/>
          </a:xfrm>
          <a:prstGeom prst="rect">
            <a:avLst/>
          </a:prstGeom>
          <a:noFill/>
          <a:ln/>
        </p:spPr>
        <p:txBody>
          <a:bodyPr wrap="square" lIns="0" tIns="0" rIns="0" bIns="0" rtlCol="0" anchor="ctr"/>
          <a:lstStyle/>
          <a:p>
            <a:pPr indent="0" marL="0">
              <a:buNone/>
            </a:pPr>
            <a:r>
              <a:rPr lang="en-US" sz="1000" dirty="0">
                <a:solidFill>
                  <a:srgbClr val="6B7784"/>
                </a:solidFill>
                <a:latin typeface="Calibri" pitchFamily="34" charset="0"/>
                <a:ea typeface="Calibri" pitchFamily="34" charset="-122"/>
                <a:cs typeface="Calibri" pitchFamily="34" charset="-120"/>
              </a:rPr>
              <a:t>12  A minimal reference impl.</a:t>
            </a:r>
            <a:endParaRPr lang="en-US" sz="1000" dirty="0"/>
          </a:p>
        </p:txBody>
      </p:sp>
      <p:sp>
        <p:nvSpPr>
          <p:cNvPr id="36" name="Text 34"/>
          <p:cNvSpPr txBox="1"/>
          <p:nvPr/>
        </p:nvSpPr>
        <p:spPr>
          <a:xfrm>
            <a:off x="640080" y="5715000"/>
            <a:ext cx="10911535" cy="384048"/>
          </a:xfrm>
          <a:prstGeom prst="rect">
            <a:avLst/>
          </a:prstGeom>
          <a:noFill/>
          <a:ln/>
        </p:spPr>
        <p:txBody>
          <a:bodyPr wrap="square" lIns="0" tIns="0" rIns="0" bIns="0" rtlCol="0" anchor="ctr"/>
          <a:lstStyle/>
          <a:p>
            <a:pPr indent="0" marL="0">
              <a:buNone/>
            </a:pPr>
            <a:r>
              <a:rPr lang="en-US" sz="1500" b="1" dirty="0">
                <a:solidFill>
                  <a:srgbClr val="028090"/>
                </a:solidFill>
                <a:latin typeface="Arial" pitchFamily="34" charset="0"/>
                <a:ea typeface="Arial" pitchFamily="34" charset="-122"/>
                <a:cs typeface="Arial" pitchFamily="34" charset="-120"/>
              </a:rPr>
              <a:t>→  DEMO: the docs page, then Test your server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Arial" pitchFamily="34" charset="0"/>
                <a:ea typeface="Arial" pitchFamily="34" charset="-122"/>
                <a:cs typeface="Arial" pitchFamily="34" charset="-120"/>
              </a:rPr>
              <a:t>PART 2 · A SECOND USE</a:t>
            </a:r>
            <a:endParaRPr lang="en-US" sz="1100" dirty="0"/>
          </a:p>
        </p:txBody>
      </p:sp>
      <p:sp>
        <p:nvSpPr>
          <p:cNvPr id="3" name="Text 1"/>
          <p:cNvSpPr txBox="1"/>
          <p:nvPr/>
        </p:nvSpPr>
        <p:spPr>
          <a:xfrm>
            <a:off x="640080" y="658368"/>
            <a:ext cx="10911535"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The same eval loop, pointed at skill selection</a:t>
            </a:r>
            <a:endParaRPr lang="en-US" sz="3000" dirty="0"/>
          </a:p>
        </p:txBody>
      </p:sp>
      <p:sp>
        <p:nvSpPr>
          <p:cNvPr id="4" name="Text 2"/>
          <p:cNvSpPr txBox="1"/>
          <p:nvPr/>
        </p:nvSpPr>
        <p:spPr>
          <a:xfrm>
            <a:off x="640080" y="1325880"/>
            <a:ext cx="10911535" cy="310896"/>
          </a:xfrm>
          <a:prstGeom prst="rect">
            <a:avLst/>
          </a:prstGeom>
          <a:noFill/>
          <a:ln/>
        </p:spPr>
        <p:txBody>
          <a:bodyPr wrap="square" lIns="0" tIns="0" rIns="0" bIns="0" rtlCol="0" anchor="ctr"/>
          <a:lstStyle/>
          <a:p>
            <a:pPr indent="0" marL="0">
              <a:buNone/>
            </a:pPr>
            <a:r>
              <a:rPr lang="en-US" sz="1350" dirty="0">
                <a:solidFill>
                  <a:srgbClr val="6B7784"/>
                </a:solidFill>
                <a:latin typeface="Calibri" pitchFamily="34" charset="0"/>
                <a:ea typeface="Calibri" pitchFamily="34" charset="-122"/>
                <a:cs typeface="Calibri" pitchFamily="34" charset="-120"/>
              </a:rPr>
              <a:t>Evaluation was built to grade the answer. It grades a routing decision just as well — the trick is entirely in how the question is phrased.</a:t>
            </a:r>
            <a:endParaRPr lang="en-US" sz="1350" dirty="0"/>
          </a:p>
        </p:txBody>
      </p:sp>
      <p:sp>
        <p:nvSpPr>
          <p:cNvPr id="5" name="Shape 3"/>
          <p:cNvSpPr/>
          <p:nvPr/>
        </p:nvSpPr>
        <p:spPr>
          <a:xfrm>
            <a:off x="640080" y="1828800"/>
            <a:ext cx="5285232" cy="2148840"/>
          </a:xfrm>
          <a:prstGeom prst="roundRect">
            <a:avLst>
              <a:gd name="adj" fmla="val 3404"/>
            </a:avLst>
          </a:prstGeom>
          <a:solidFill>
            <a:srgbClr val="F1F4F6"/>
          </a:solidFill>
          <a:ln w="12700">
            <a:solidFill>
              <a:srgbClr val="E4EAEE"/>
            </a:solidFill>
            <a:prstDash val="solid"/>
          </a:ln>
        </p:spPr>
      </p:sp>
      <p:sp>
        <p:nvSpPr>
          <p:cNvPr id="6" name="Text 4"/>
          <p:cNvSpPr txBox="1"/>
          <p:nvPr/>
        </p:nvSpPr>
        <p:spPr>
          <a:xfrm>
            <a:off x="914400" y="2029968"/>
            <a:ext cx="4754880" cy="237744"/>
          </a:xfrm>
          <a:prstGeom prst="rect">
            <a:avLst/>
          </a:prstGeom>
          <a:noFill/>
          <a:ln/>
        </p:spPr>
        <p:txBody>
          <a:bodyPr wrap="square" lIns="0" tIns="0" rIns="0" bIns="0" rtlCol="0" anchor="ctr"/>
          <a:lstStyle/>
          <a:p>
            <a:pPr indent="0" marL="0">
              <a:buNone/>
            </a:pPr>
            <a:r>
              <a:rPr lang="en-US" sz="950" b="1" spc="200" kern="0" dirty="0">
                <a:solidFill>
                  <a:srgbClr val="6B7784"/>
                </a:solidFill>
                <a:latin typeface="Arial" pitchFamily="34" charset="0"/>
                <a:ea typeface="Arial" pitchFamily="34" charset="-122"/>
                <a:cs typeface="Arial" pitchFamily="34" charset="-120"/>
              </a:rPr>
              <a:t>ANSWER EVALUATION</a:t>
            </a:r>
            <a:endParaRPr lang="en-US" sz="950" dirty="0"/>
          </a:p>
        </p:txBody>
      </p:sp>
      <p:sp>
        <p:nvSpPr>
          <p:cNvPr id="7" name="Text 5"/>
          <p:cNvSpPr txBox="1"/>
          <p:nvPr/>
        </p:nvSpPr>
        <p:spPr>
          <a:xfrm>
            <a:off x="914400" y="2340864"/>
            <a:ext cx="4754880" cy="96012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“What will TSMC's capacity be next year?”</a:t>
            </a:r>
            <a:endParaRPr lang="en-US" sz="1500" dirty="0"/>
          </a:p>
        </p:txBody>
      </p:sp>
      <p:sp>
        <p:nvSpPr>
          <p:cNvPr id="8" name="Text 6"/>
          <p:cNvSpPr txBox="1"/>
          <p:nvPr/>
        </p:nvSpPr>
        <p:spPr>
          <a:xfrm>
            <a:off x="914400" y="3456432"/>
            <a:ext cx="4754880" cy="274320"/>
          </a:xfrm>
          <a:prstGeom prst="rect">
            <a:avLst/>
          </a:prstGeom>
          <a:noFill/>
          <a:ln/>
        </p:spPr>
        <p:txBody>
          <a:bodyPr wrap="square" lIns="0" tIns="0" rIns="0" bIns="0" rtlCol="0" anchor="ctr"/>
          <a:lstStyle/>
          <a:p>
            <a:pPr indent="0" marL="0">
              <a:buNone/>
            </a:pPr>
            <a:r>
              <a:rPr lang="en-US" sz="1200" i="1" dirty="0">
                <a:solidFill>
                  <a:srgbClr val="3A4750"/>
                </a:solidFill>
                <a:latin typeface="Calibri" pitchFamily="34" charset="0"/>
                <a:ea typeface="Calibri" pitchFamily="34" charset="-122"/>
                <a:cs typeface="Calibri" pitchFamily="34" charset="-120"/>
              </a:rPr>
              <a:t>Graded on: the answer the agent produced.</a:t>
            </a:r>
            <a:endParaRPr lang="en-US" sz="1200" dirty="0"/>
          </a:p>
        </p:txBody>
      </p:sp>
      <p:sp>
        <p:nvSpPr>
          <p:cNvPr id="9" name="Shape 7"/>
          <p:cNvSpPr/>
          <p:nvPr/>
        </p:nvSpPr>
        <p:spPr>
          <a:xfrm>
            <a:off x="6272784" y="1828800"/>
            <a:ext cx="5285232" cy="2148840"/>
          </a:xfrm>
          <a:prstGeom prst="roundRect">
            <a:avLst>
              <a:gd name="adj" fmla="val 3404"/>
            </a:avLst>
          </a:prstGeom>
          <a:solidFill>
            <a:srgbClr val="D9EDEE"/>
          </a:solidFill>
          <a:ln w="12700">
            <a:solidFill>
              <a:srgbClr val="BFE0E2"/>
            </a:solidFill>
            <a:prstDash val="solid"/>
          </a:ln>
        </p:spPr>
      </p:sp>
      <p:sp>
        <p:nvSpPr>
          <p:cNvPr id="10" name="Text 8"/>
          <p:cNvSpPr txBox="1"/>
          <p:nvPr/>
        </p:nvSpPr>
        <p:spPr>
          <a:xfrm>
            <a:off x="6547104" y="2029968"/>
            <a:ext cx="4754880" cy="237744"/>
          </a:xfrm>
          <a:prstGeom prst="rect">
            <a:avLst/>
          </a:prstGeom>
          <a:noFill/>
          <a:ln/>
        </p:spPr>
        <p:txBody>
          <a:bodyPr wrap="square" lIns="0" tIns="0" rIns="0" bIns="0" rtlCol="0" anchor="ctr"/>
          <a:lstStyle/>
          <a:p>
            <a:pPr indent="0" marL="0">
              <a:buNone/>
            </a:pPr>
            <a:r>
              <a:rPr lang="en-US" sz="950" b="1" spc="200" kern="0" dirty="0">
                <a:solidFill>
                  <a:srgbClr val="01606B"/>
                </a:solidFill>
                <a:latin typeface="Arial" pitchFamily="34" charset="0"/>
                <a:ea typeface="Arial" pitchFamily="34" charset="-122"/>
                <a:cs typeface="Arial" pitchFamily="34" charset="-120"/>
              </a:rPr>
              <a:t>ROUTING EVALUATION</a:t>
            </a:r>
            <a:endParaRPr lang="en-US" sz="950" dirty="0"/>
          </a:p>
        </p:txBody>
      </p:sp>
      <p:sp>
        <p:nvSpPr>
          <p:cNvPr id="11" name="Text 9"/>
          <p:cNvSpPr txBox="1"/>
          <p:nvPr/>
        </p:nvSpPr>
        <p:spPr>
          <a:xfrm>
            <a:off x="6547104" y="2340864"/>
            <a:ext cx="4754880" cy="96012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“Which skill would you pick to answer the following question: What will TSMC's capacity be next year?”</a:t>
            </a:r>
            <a:endParaRPr lang="en-US" sz="1500" dirty="0"/>
          </a:p>
        </p:txBody>
      </p:sp>
      <p:sp>
        <p:nvSpPr>
          <p:cNvPr id="12" name="Text 10"/>
          <p:cNvSpPr txBox="1"/>
          <p:nvPr/>
        </p:nvSpPr>
        <p:spPr>
          <a:xfrm>
            <a:off x="6547104" y="3456432"/>
            <a:ext cx="4754880" cy="274320"/>
          </a:xfrm>
          <a:prstGeom prst="rect">
            <a:avLst/>
          </a:prstGeom>
          <a:noFill/>
          <a:ln/>
        </p:spPr>
        <p:txBody>
          <a:bodyPr wrap="square" lIns="0" tIns="0" rIns="0" bIns="0" rtlCol="0" anchor="ctr"/>
          <a:lstStyle/>
          <a:p>
            <a:pPr indent="0" marL="0">
              <a:buNone/>
            </a:pPr>
            <a:r>
              <a:rPr lang="en-US" sz="1200" i="1" dirty="0">
                <a:solidFill>
                  <a:srgbClr val="3A4750"/>
                </a:solidFill>
                <a:latin typeface="Calibri" pitchFamily="34" charset="0"/>
                <a:ea typeface="Calibri" pitchFamily="34" charset="-122"/>
                <a:cs typeface="Calibri" pitchFamily="34" charset="-120"/>
              </a:rPr>
              <a:t>Graded on: the skill the agent names.</a:t>
            </a:r>
            <a:endParaRPr lang="en-US" sz="1200" dirty="0"/>
          </a:p>
        </p:txBody>
      </p:sp>
      <p:sp>
        <p:nvSpPr>
          <p:cNvPr id="13" name="Shape 11"/>
          <p:cNvSpPr/>
          <p:nvPr/>
        </p:nvSpPr>
        <p:spPr>
          <a:xfrm>
            <a:off x="5998464" y="2898648"/>
            <a:ext cx="237744" cy="0"/>
          </a:xfrm>
          <a:prstGeom prst="line">
            <a:avLst/>
          </a:prstGeom>
          <a:noFill/>
          <a:ln w="25400">
            <a:solidFill>
              <a:srgbClr val="028090"/>
            </a:solidFill>
            <a:prstDash val="solid"/>
            <a:tailEnd type="triangle"/>
          </a:ln>
        </p:spPr>
      </p:sp>
      <p:sp>
        <p:nvSpPr>
          <p:cNvPr id="14" name="Text 12"/>
          <p:cNvSpPr txBox="1"/>
          <p:nvPr/>
        </p:nvSpPr>
        <p:spPr>
          <a:xfrm>
            <a:off x="640080" y="4224528"/>
            <a:ext cx="10911535" cy="274320"/>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What that buys us</a:t>
            </a:r>
            <a:endParaRPr lang="en-US" sz="1400" dirty="0"/>
          </a:p>
        </p:txBody>
      </p:sp>
      <p:sp>
        <p:nvSpPr>
          <p:cNvPr id="15" name="Shape 13"/>
          <p:cNvSpPr/>
          <p:nvPr/>
        </p:nvSpPr>
        <p:spPr>
          <a:xfrm>
            <a:off x="640080" y="4590288"/>
            <a:ext cx="3511296" cy="1417320"/>
          </a:xfrm>
          <a:prstGeom prst="roundRect">
            <a:avLst>
              <a:gd name="adj" fmla="val 5161"/>
            </a:avLst>
          </a:prstGeom>
          <a:solidFill>
            <a:srgbClr val="FFFFFF"/>
          </a:solidFill>
          <a:ln w="12700">
            <a:solidFill>
              <a:srgbClr val="E4EAEE"/>
            </a:solidFill>
            <a:prstDash val="solid"/>
          </a:ln>
        </p:spPr>
      </p:sp>
      <p:sp>
        <p:nvSpPr>
          <p:cNvPr id="16" name="Text 14"/>
          <p:cNvSpPr txBox="1"/>
          <p:nvPr/>
        </p:nvSpPr>
        <p:spPr>
          <a:xfrm>
            <a:off x="859536" y="4736592"/>
            <a:ext cx="3108960" cy="256032"/>
          </a:xfrm>
          <a:prstGeom prst="rect">
            <a:avLst/>
          </a:prstGeom>
          <a:noFill/>
          <a:ln/>
        </p:spPr>
        <p:txBody>
          <a:bodyPr wrap="square" lIns="0" tIns="0" rIns="0" bIns="0" rtlCol="0" anchor="ctr"/>
          <a:lstStyle/>
          <a:p>
            <a:pPr indent="0" marL="0">
              <a:buNone/>
            </a:pPr>
            <a:r>
              <a:rPr lang="en-US" sz="1250" b="1" dirty="0">
                <a:solidFill>
                  <a:srgbClr val="01606B"/>
                </a:solidFill>
                <a:latin typeface="Arial" pitchFamily="34" charset="0"/>
                <a:ea typeface="Arial" pitchFamily="34" charset="-122"/>
                <a:cs typeface="Arial" pitchFamily="34" charset="-120"/>
              </a:rPr>
              <a:t>No new feature</a:t>
            </a:r>
            <a:endParaRPr lang="en-US" sz="1250" dirty="0"/>
          </a:p>
        </p:txBody>
      </p:sp>
      <p:sp>
        <p:nvSpPr>
          <p:cNvPr id="17" name="Text 15"/>
          <p:cNvSpPr txBox="1"/>
          <p:nvPr/>
        </p:nvSpPr>
        <p:spPr>
          <a:xfrm>
            <a:off x="859536" y="5029200"/>
            <a:ext cx="3108960" cy="868680"/>
          </a:xfrm>
          <a:prstGeom prst="rect">
            <a:avLst/>
          </a:prstGeom>
          <a:noFill/>
          <a:ln/>
        </p:spPr>
        <p:txBody>
          <a:bodyPr wrap="square" lIns="0" tIns="0" rIns="0" bIns="0" rtlCol="0" anchor="ctr"/>
          <a:lstStyle/>
          <a:p>
            <a:pPr indent="0" marL="0">
              <a:buNone/>
            </a:pPr>
            <a:r>
              <a:rPr lang="en-US" sz="1100" dirty="0">
                <a:solidFill>
                  <a:srgbClr val="3A4750"/>
                </a:solidFill>
                <a:latin typeface="Calibri" pitchFamily="34" charset="0"/>
                <a:ea typeface="Calibri" pitchFamily="34" charset="-122"/>
                <a:cs typeface="Calibri" pitchFamily="34" charset="-120"/>
              </a:rPr>
              <a:t>Same upload, same run, same judge, same failure diagnosis. Routing became measurable without a line of new evaluation code.</a:t>
            </a:r>
            <a:endParaRPr lang="en-US" sz="1100" dirty="0"/>
          </a:p>
        </p:txBody>
      </p:sp>
      <p:sp>
        <p:nvSpPr>
          <p:cNvPr id="18" name="Shape 16"/>
          <p:cNvSpPr/>
          <p:nvPr/>
        </p:nvSpPr>
        <p:spPr>
          <a:xfrm>
            <a:off x="4334256" y="4590288"/>
            <a:ext cx="3511296" cy="1417320"/>
          </a:xfrm>
          <a:prstGeom prst="roundRect">
            <a:avLst>
              <a:gd name="adj" fmla="val 5161"/>
            </a:avLst>
          </a:prstGeom>
          <a:solidFill>
            <a:srgbClr val="FFFFFF"/>
          </a:solidFill>
          <a:ln w="12700">
            <a:solidFill>
              <a:srgbClr val="E4EAEE"/>
            </a:solidFill>
            <a:prstDash val="solid"/>
          </a:ln>
        </p:spPr>
      </p:sp>
      <p:sp>
        <p:nvSpPr>
          <p:cNvPr id="19" name="Text 17"/>
          <p:cNvSpPr txBox="1"/>
          <p:nvPr/>
        </p:nvSpPr>
        <p:spPr>
          <a:xfrm>
            <a:off x="4553712" y="4736592"/>
            <a:ext cx="3108960" cy="256032"/>
          </a:xfrm>
          <a:prstGeom prst="rect">
            <a:avLst/>
          </a:prstGeom>
          <a:noFill/>
          <a:ln/>
        </p:spPr>
        <p:txBody>
          <a:bodyPr wrap="square" lIns="0" tIns="0" rIns="0" bIns="0" rtlCol="0" anchor="ctr"/>
          <a:lstStyle/>
          <a:p>
            <a:pPr indent="0" marL="0">
              <a:buNone/>
            </a:pPr>
            <a:r>
              <a:rPr lang="en-US" sz="1250" b="1" dirty="0">
                <a:solidFill>
                  <a:srgbClr val="01606B"/>
                </a:solidFill>
                <a:latin typeface="Arial" pitchFamily="34" charset="0"/>
                <a:ea typeface="Arial" pitchFamily="34" charset="-122"/>
                <a:cs typeface="Arial" pitchFamily="34" charset="-120"/>
              </a:rPr>
              <a:t>The label was already there</a:t>
            </a:r>
            <a:endParaRPr lang="en-US" sz="1250" dirty="0"/>
          </a:p>
        </p:txBody>
      </p:sp>
      <p:sp>
        <p:nvSpPr>
          <p:cNvPr id="20" name="Text 18"/>
          <p:cNvSpPr txBox="1"/>
          <p:nvPr/>
        </p:nvSpPr>
        <p:spPr>
          <a:xfrm>
            <a:off x="4553712" y="5029200"/>
            <a:ext cx="3108960" cy="868680"/>
          </a:xfrm>
          <a:prstGeom prst="rect">
            <a:avLst/>
          </a:prstGeom>
          <a:noFill/>
          <a:ln/>
        </p:spPr>
        <p:txBody>
          <a:bodyPr wrap="square" lIns="0" tIns="0" rIns="0" bIns="0" rtlCol="0" anchor="ctr"/>
          <a:lstStyle/>
          <a:p>
            <a:pPr indent="0" marL="0">
              <a:buNone/>
            </a:pPr>
            <a:r>
              <a:rPr lang="en-US" sz="1100" dirty="0">
                <a:solidFill>
                  <a:srgbClr val="3A4750"/>
                </a:solidFill>
                <a:latin typeface="Calibri" pitchFamily="34" charset="0"/>
                <a:ea typeface="Calibri" pitchFamily="34" charset="-122"/>
                <a:cs typeface="Calibri" pitchFamily="34" charset="-120"/>
              </a:rPr>
              <a:t>Every eval question already carries a skill field — the skills it should have been answered with. That is the ground truth a routing question needs.</a:t>
            </a:r>
            <a:endParaRPr lang="en-US" sz="1100" dirty="0"/>
          </a:p>
        </p:txBody>
      </p:sp>
      <p:sp>
        <p:nvSpPr>
          <p:cNvPr id="21" name="Shape 19"/>
          <p:cNvSpPr/>
          <p:nvPr/>
        </p:nvSpPr>
        <p:spPr>
          <a:xfrm>
            <a:off x="8028432" y="4590288"/>
            <a:ext cx="3511296" cy="1417320"/>
          </a:xfrm>
          <a:prstGeom prst="roundRect">
            <a:avLst>
              <a:gd name="adj" fmla="val 5161"/>
            </a:avLst>
          </a:prstGeom>
          <a:solidFill>
            <a:srgbClr val="FFFFFF"/>
          </a:solidFill>
          <a:ln w="12700">
            <a:solidFill>
              <a:srgbClr val="E4EAEE"/>
            </a:solidFill>
            <a:prstDash val="solid"/>
          </a:ln>
        </p:spPr>
      </p:sp>
      <p:sp>
        <p:nvSpPr>
          <p:cNvPr id="22" name="Text 20"/>
          <p:cNvSpPr txBox="1"/>
          <p:nvPr/>
        </p:nvSpPr>
        <p:spPr>
          <a:xfrm>
            <a:off x="8247888" y="4736592"/>
            <a:ext cx="3108960" cy="256032"/>
          </a:xfrm>
          <a:prstGeom prst="rect">
            <a:avLst/>
          </a:prstGeom>
          <a:noFill/>
          <a:ln/>
        </p:spPr>
        <p:txBody>
          <a:bodyPr wrap="square" lIns="0" tIns="0" rIns="0" bIns="0" rtlCol="0" anchor="ctr"/>
          <a:lstStyle/>
          <a:p>
            <a:pPr indent="0" marL="0">
              <a:buNone/>
            </a:pPr>
            <a:r>
              <a:rPr lang="en-US" sz="1250" b="1" dirty="0">
                <a:solidFill>
                  <a:srgbClr val="01606B"/>
                </a:solidFill>
                <a:latin typeface="Arial" pitchFamily="34" charset="0"/>
                <a:ea typeface="Arial" pitchFamily="34" charset="-122"/>
                <a:cs typeface="Arial" pitchFamily="34" charset="-120"/>
              </a:rPr>
              <a:t>A cheaper signal</a:t>
            </a:r>
            <a:endParaRPr lang="en-US" sz="1250" dirty="0"/>
          </a:p>
        </p:txBody>
      </p:sp>
      <p:sp>
        <p:nvSpPr>
          <p:cNvPr id="23" name="Text 21"/>
          <p:cNvSpPr txBox="1"/>
          <p:nvPr/>
        </p:nvSpPr>
        <p:spPr>
          <a:xfrm>
            <a:off x="8247888" y="5029200"/>
            <a:ext cx="3108960" cy="868680"/>
          </a:xfrm>
          <a:prstGeom prst="rect">
            <a:avLst/>
          </a:prstGeom>
          <a:noFill/>
          <a:ln/>
        </p:spPr>
        <p:txBody>
          <a:bodyPr wrap="square" lIns="0" tIns="0" rIns="0" bIns="0" rtlCol="0" anchor="ctr"/>
          <a:lstStyle/>
          <a:p>
            <a:pPr indent="0" marL="0">
              <a:buNone/>
            </a:pPr>
            <a:r>
              <a:rPr lang="en-US" sz="1100" dirty="0">
                <a:solidFill>
                  <a:srgbClr val="3A4750"/>
                </a:solidFill>
                <a:latin typeface="Calibri" pitchFamily="34" charset="0"/>
                <a:ea typeface="Calibri" pitchFamily="34" charset="-122"/>
                <a:cs typeface="Calibri" pitchFamily="34" charset="-120"/>
              </a:rPr>
              <a:t>The agent stops before it works. One decision per question instead of a full trajectory, so a routing set runs fast and costs little.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911535"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Arial" pitchFamily="34" charset="0"/>
                <a:ea typeface="Arial" pitchFamily="34" charset="-122"/>
                <a:cs typeface="Arial" pitchFamily="34" charset="-120"/>
              </a:rPr>
              <a:t>PART 2 · IN FLIGHT</a:t>
            </a:r>
            <a:endParaRPr lang="en-US" sz="1100" dirty="0"/>
          </a:p>
        </p:txBody>
      </p:sp>
      <p:sp>
        <p:nvSpPr>
          <p:cNvPr id="3" name="Text 1"/>
          <p:cNvSpPr txBox="1"/>
          <p:nvPr/>
        </p:nvSpPr>
        <p:spPr>
          <a:xfrm>
            <a:off x="640080" y="658368"/>
            <a:ext cx="10911535"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Routing optimization: why SkillOpt did not transfer</a:t>
            </a:r>
            <a:endParaRPr lang="en-US" sz="3000" dirty="0"/>
          </a:p>
        </p:txBody>
      </p:sp>
      <p:sp>
        <p:nvSpPr>
          <p:cNvPr id="4" name="Shape 2"/>
          <p:cNvSpPr/>
          <p:nvPr/>
        </p:nvSpPr>
        <p:spPr>
          <a:xfrm>
            <a:off x="640080" y="1572768"/>
            <a:ext cx="5541264" cy="2788920"/>
          </a:xfrm>
          <a:prstGeom prst="roundRect">
            <a:avLst>
              <a:gd name="adj" fmla="val 2623"/>
            </a:avLst>
          </a:prstGeom>
          <a:solidFill>
            <a:srgbClr val="F1F4F6"/>
          </a:solidFill>
          <a:ln w="12700">
            <a:solidFill>
              <a:srgbClr val="E4EAEE"/>
            </a:solidFill>
            <a:prstDash val="solid"/>
          </a:ln>
        </p:spPr>
      </p:sp>
      <p:sp>
        <p:nvSpPr>
          <p:cNvPr id="5" name="Text 3"/>
          <p:cNvSpPr txBox="1"/>
          <p:nvPr/>
        </p:nvSpPr>
        <p:spPr>
          <a:xfrm>
            <a:off x="914400" y="1773936"/>
            <a:ext cx="4937760" cy="237744"/>
          </a:xfrm>
          <a:prstGeom prst="rect">
            <a:avLst/>
          </a:prstGeom>
          <a:noFill/>
          <a:ln/>
        </p:spPr>
        <p:txBody>
          <a:bodyPr wrap="square" lIns="0" tIns="0" rIns="0" bIns="0" rtlCol="0" anchor="ctr"/>
          <a:lstStyle/>
          <a:p>
            <a:pPr indent="0" marL="0">
              <a:buNone/>
            </a:pPr>
            <a:r>
              <a:rPr lang="en-US" sz="950" b="1" spc="200" kern="0" dirty="0">
                <a:solidFill>
                  <a:srgbClr val="6B7784"/>
                </a:solidFill>
                <a:latin typeface="Arial" pitchFamily="34" charset="0"/>
                <a:ea typeface="Arial" pitchFamily="34" charset="-122"/>
                <a:cs typeface="Arial" pitchFamily="34" charset="-120"/>
              </a:rPr>
              <a:t>WHAT WE TRIED</a:t>
            </a:r>
            <a:endParaRPr lang="en-US" sz="950" dirty="0"/>
          </a:p>
        </p:txBody>
      </p:sp>
      <p:sp>
        <p:nvSpPr>
          <p:cNvPr id="6" name="Text 4"/>
          <p:cNvSpPr txBox="1"/>
          <p:nvPr/>
        </p:nvSpPr>
        <p:spPr>
          <a:xfrm>
            <a:off x="914400" y="2048256"/>
            <a:ext cx="4992624" cy="310896"/>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Isolated mode's algorithm, pointed at the description</a:t>
            </a:r>
            <a:endParaRPr lang="en-US" sz="1500" dirty="0"/>
          </a:p>
        </p:txBody>
      </p:sp>
      <p:sp>
        <p:nvSpPr>
          <p:cNvPr id="7" name="Text 5"/>
          <p:cNvSpPr txBox="1"/>
          <p:nvPr/>
        </p:nvSpPr>
        <p:spPr>
          <a:xfrm>
            <a:off x="914400" y="2432304"/>
            <a:ext cx="4992624" cy="640080"/>
          </a:xfrm>
          <a:prstGeom prst="rect">
            <a:avLst/>
          </a:prstGeom>
          <a:noFill/>
          <a:ln/>
        </p:spPr>
        <p:txBody>
          <a:bodyPr wrap="square" lIns="0" tIns="0" rIns="0" bIns="0" rtlCol="0" anchor="ctr"/>
          <a:lstStyle/>
          <a:p>
            <a:pPr indent="0" marL="0">
              <a:buNone/>
            </a:pPr>
            <a:r>
              <a:rPr lang="en-US" sz="1200" dirty="0">
                <a:solidFill>
                  <a:srgbClr val="3A4750"/>
                </a:solidFill>
                <a:latin typeface="Calibri" pitchFamily="34" charset="0"/>
                <a:ea typeface="Calibri" pitchFamily="34" charset="-122"/>
                <a:cs typeface="Calibri" pitchFamily="34" charset="-120"/>
              </a:rPr>
              <a:t>Small minibatches, an analyst call each, then a merge. It does not converge: the description keeps being rewritten and the score keeps moving without settling.</a:t>
            </a:r>
            <a:endParaRPr lang="en-US" sz="1200" dirty="0"/>
          </a:p>
        </p:txBody>
      </p:sp>
      <p:sp>
        <p:nvSpPr>
          <p:cNvPr id="8" name="Text 6"/>
          <p:cNvSpPr txBox="1"/>
          <p:nvPr/>
        </p:nvSpPr>
        <p:spPr>
          <a:xfrm>
            <a:off x="914400" y="3127248"/>
            <a:ext cx="4992624" cy="1097280"/>
          </a:xfrm>
          <a:prstGeom prst="rect">
            <a:avLst/>
          </a:prstGeom>
          <a:noFill/>
          <a:ln/>
        </p:spPr>
        <p:txBody>
          <a:bodyPr wrap="square" lIns="0" tIns="0" rIns="0" bIns="0" rtlCol="0" anchor="ctr"/>
          <a:lstStyle/>
          <a:p>
            <a:pPr indent="0" marL="0">
              <a:buNone/>
            </a:pPr>
            <a:r>
              <a:rPr lang="en-US" sz="1200" i="1" dirty="0">
                <a:solidFill>
                  <a:srgbClr val="01606B"/>
                </a:solidFill>
                <a:latin typeface="Calibri" pitchFamily="34" charset="0"/>
                <a:ea typeface="Calibri" pitchFamily="34" charset="-122"/>
                <a:cs typeface="Calibri" pitchFamily="34" charset="-120"/>
              </a:rPr>
              <a:t>Optimizing a skill body is a large model: thousands of words, an edit appends to one section, and the loss follows the gradient down. A description is two or three sentences — a representation space so small that every edit is a rewrite, so the loss jumps across the surface instead of descending it.</a:t>
            </a:r>
            <a:endParaRPr lang="en-US" sz="1200" dirty="0"/>
          </a:p>
        </p:txBody>
      </p:sp>
      <p:sp>
        <p:nvSpPr>
          <p:cNvPr id="9" name="Shape 7"/>
          <p:cNvSpPr/>
          <p:nvPr/>
        </p:nvSpPr>
        <p:spPr>
          <a:xfrm>
            <a:off x="6419088" y="1572768"/>
            <a:ext cx="5129784" cy="2788920"/>
          </a:xfrm>
          <a:prstGeom prst="roundRect">
            <a:avLst>
              <a:gd name="adj" fmla="val 2623"/>
            </a:avLst>
          </a:prstGeom>
          <a:solidFill>
            <a:srgbClr val="028090"/>
          </a:solidFill>
          <a:ln w="12700">
            <a:solidFill>
              <a:srgbClr val="028090"/>
            </a:solidFill>
            <a:prstDash val="solid"/>
          </a:ln>
        </p:spPr>
      </p:sp>
      <p:sp>
        <p:nvSpPr>
          <p:cNvPr id="10" name="Text 8"/>
          <p:cNvSpPr txBox="1"/>
          <p:nvPr/>
        </p:nvSpPr>
        <p:spPr>
          <a:xfrm>
            <a:off x="6693408" y="1773936"/>
            <a:ext cx="4572000" cy="237744"/>
          </a:xfrm>
          <a:prstGeom prst="rect">
            <a:avLst/>
          </a:prstGeom>
          <a:noFill/>
          <a:ln/>
        </p:spPr>
        <p:txBody>
          <a:bodyPr wrap="square" lIns="0" tIns="0" rIns="0" bIns="0" rtlCol="0" anchor="ctr"/>
          <a:lstStyle/>
          <a:p>
            <a:pPr indent="0" marL="0">
              <a:buNone/>
            </a:pPr>
            <a:r>
              <a:rPr lang="en-US" sz="950" b="1" spc="200" kern="0" dirty="0">
                <a:solidFill>
                  <a:srgbClr val="02C39A"/>
                </a:solidFill>
                <a:latin typeface="Arial" pitchFamily="34" charset="0"/>
                <a:ea typeface="Arial" pitchFamily="34" charset="-122"/>
                <a:cs typeface="Arial" pitchFamily="34" charset="-120"/>
              </a:rPr>
              <a:t>WHAT WE DO NOW</a:t>
            </a:r>
            <a:endParaRPr lang="en-US" sz="950" dirty="0"/>
          </a:p>
        </p:txBody>
      </p:sp>
      <p:sp>
        <p:nvSpPr>
          <p:cNvPr id="11" name="Text 9"/>
          <p:cNvSpPr txBox="1"/>
          <p:nvPr/>
        </p:nvSpPr>
        <p:spPr>
          <a:xfrm>
            <a:off x="6693408" y="2048256"/>
            <a:ext cx="4572000" cy="3108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One larger, stratified batch per step</a:t>
            </a:r>
            <a:endParaRPr lang="en-US" sz="1500" dirty="0"/>
          </a:p>
        </p:txBody>
      </p:sp>
      <p:sp>
        <p:nvSpPr>
          <p:cNvPr id="12" name="Text 10"/>
          <p:cNvSpPr txBox="1"/>
          <p:nvPr/>
        </p:nvSpPr>
        <p:spPr>
          <a:xfrm>
            <a:off x="6693408" y="2432304"/>
            <a:ext cx="4572000" cy="178308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E1F2F3"/>
                </a:solidFill>
                <a:latin typeface="Calibri" pitchFamily="34" charset="0"/>
                <a:ea typeface="Calibri" pitchFamily="34" charset="-122"/>
                <a:cs typeface="Calibri" pitchFamily="34" charset="-120"/>
              </a:rPr>
              <a:t>A big batch gives a more global gradient than a handful of questions can.</a:t>
            </a:r>
            <a:endParaRPr lang="en-US" sz="1200" dirty="0"/>
          </a:p>
          <a:p>
            <a:pPr marL="342900" indent="-342900">
              <a:spcAft>
                <a:spcPts val="700"/>
              </a:spcAft>
              <a:buSzPct val="100000"/>
              <a:buChar char="•"/>
            </a:pPr>
            <a:r>
              <a:rPr lang="en-US" sz="1200" dirty="0">
                <a:solidFill>
                  <a:srgbClr val="E1F2F3"/>
                </a:solidFill>
                <a:latin typeface="Calibri" pitchFamily="34" charset="0"/>
                <a:ea typeface="Calibri" pitchFamily="34" charset="-122"/>
                <a:cs typeface="Calibri" pitchFamily="34" charset="-120"/>
              </a:rPr>
              <a:t>Stratified sampling interleaves the skills, so every description is rewritten from evidence about itself — not dragged by whichever skill happened to turn up.</a:t>
            </a:r>
            <a:endParaRPr lang="en-US" sz="1200" dirty="0"/>
          </a:p>
          <a:p>
            <a:pPr marL="342900" indent="-342900">
              <a:spcAft>
                <a:spcPts val="700"/>
              </a:spcAft>
              <a:buSzPct val="100000"/>
              <a:buChar char="•"/>
            </a:pPr>
            <a:r>
              <a:rPr lang="en-US" sz="1200" dirty="0">
                <a:solidFill>
                  <a:srgbClr val="E1F2F3"/>
                </a:solidFill>
                <a:latin typeface="Calibri" pitchFamily="34" charset="0"/>
                <a:ea typeface="Calibri" pitchFamily="34" charset="-122"/>
                <a:cs typeface="Calibri" pitchFamily="34" charset="-120"/>
              </a:rPr>
              <a:t>One analyst call over the whole batch: nothing left for a merge stage to pick between with the evidence already discarded.</a:t>
            </a:r>
            <a:endParaRPr lang="en-US" sz="1200" dirty="0"/>
          </a:p>
        </p:txBody>
      </p:sp>
      <p:sp>
        <p:nvSpPr>
          <p:cNvPr id="13" name="Shape 11"/>
          <p:cNvSpPr/>
          <p:nvPr/>
        </p:nvSpPr>
        <p:spPr>
          <a:xfrm>
            <a:off x="640080" y="4526280"/>
            <a:ext cx="5541264" cy="1463040"/>
          </a:xfrm>
          <a:prstGeom prst="roundRect">
            <a:avLst>
              <a:gd name="adj" fmla="val 5000"/>
            </a:avLst>
          </a:prstGeom>
          <a:solidFill>
            <a:srgbClr val="FFFFFF"/>
          </a:solidFill>
          <a:ln w="12700">
            <a:solidFill>
              <a:srgbClr val="E4EAEE"/>
            </a:solidFill>
            <a:prstDash val="solid"/>
          </a:ln>
        </p:spPr>
      </p:sp>
      <p:sp>
        <p:nvSpPr>
          <p:cNvPr id="14" name="Text 12"/>
          <p:cNvSpPr txBox="1"/>
          <p:nvPr/>
        </p:nvSpPr>
        <p:spPr>
          <a:xfrm>
            <a:off x="914400" y="4681728"/>
            <a:ext cx="4992624" cy="256032"/>
          </a:xfrm>
          <a:prstGeom prst="rect">
            <a:avLst/>
          </a:prstGeom>
          <a:noFill/>
          <a:ln/>
        </p:spPr>
        <p:txBody>
          <a:bodyPr wrap="square" lIns="0" tIns="0" rIns="0" bIns="0" rtlCol="0" anchor="ctr"/>
          <a:lstStyle/>
          <a:p>
            <a:pPr indent="0" marL="0">
              <a:buNone/>
            </a:pPr>
            <a:r>
              <a:rPr lang="en-US" sz="1300" b="1" dirty="0">
                <a:solidFill>
                  <a:srgbClr val="1F2933"/>
                </a:solidFill>
                <a:latin typeface="Arial" pitchFamily="34" charset="0"/>
                <a:ea typeface="Arial" pitchFamily="34" charset="-122"/>
                <a:cs typeface="Arial" pitchFamily="34" charset="-120"/>
              </a:rPr>
              <a:t>The context problem a big batch creates</a:t>
            </a:r>
            <a:endParaRPr lang="en-US" sz="1300" dirty="0"/>
          </a:p>
        </p:txBody>
      </p:sp>
      <p:sp>
        <p:nvSpPr>
          <p:cNvPr id="15" name="Text 13"/>
          <p:cNvSpPr txBox="1"/>
          <p:nvPr/>
        </p:nvSpPr>
        <p:spPr>
          <a:xfrm>
            <a:off x="914400" y="4974336"/>
            <a:ext cx="4992624" cy="914400"/>
          </a:xfrm>
          <a:prstGeom prst="rect">
            <a:avLst/>
          </a:prstGeom>
          <a:noFill/>
          <a:ln/>
        </p:spPr>
        <p:txBody>
          <a:bodyPr wrap="square" lIns="0" tIns="0" rIns="0" bIns="0" rtlCol="0" anchor="ctr"/>
          <a:lstStyle/>
          <a:p>
            <a:pPr indent="0" marL="0">
              <a:buNone/>
            </a:pPr>
            <a:r>
              <a:rPr lang="en-US" sz="1150" dirty="0">
                <a:solidFill>
                  <a:srgbClr val="3A4750"/>
                </a:solidFill>
                <a:latin typeface="Calibri" pitchFamily="34" charset="0"/>
                <a:ea typeface="Calibri" pitchFamily="34" charset="-122"/>
                <a:cs typeface="Calibri" pitchFamily="34" charset="-120"/>
              </a:rPr>
              <a:t>Hundreds of full traces do not fit in the optimizer's context window. So the step sends a digest instead: a per-skill confusion matrix of what was tagged versus what was opened, plus the agent's own setup, folded once and marked where it varied.</a:t>
            </a:r>
            <a:endParaRPr lang="en-US" sz="1150" dirty="0"/>
          </a:p>
        </p:txBody>
      </p:sp>
      <p:sp>
        <p:nvSpPr>
          <p:cNvPr id="16" name="Shape 14"/>
          <p:cNvSpPr/>
          <p:nvPr/>
        </p:nvSpPr>
        <p:spPr>
          <a:xfrm>
            <a:off x="6419088" y="4526280"/>
            <a:ext cx="5129784" cy="1463040"/>
          </a:xfrm>
          <a:prstGeom prst="roundRect">
            <a:avLst>
              <a:gd name="adj" fmla="val 5000"/>
            </a:avLst>
          </a:prstGeom>
          <a:solidFill>
            <a:srgbClr val="FFF4E0"/>
          </a:solidFill>
          <a:ln w="12700">
            <a:solidFill>
              <a:srgbClr val="F0DFB8"/>
            </a:solidFill>
            <a:prstDash val="solid"/>
          </a:ln>
        </p:spPr>
      </p:sp>
      <p:sp>
        <p:nvSpPr>
          <p:cNvPr id="17" name="Shape 15"/>
          <p:cNvSpPr/>
          <p:nvPr/>
        </p:nvSpPr>
        <p:spPr>
          <a:xfrm>
            <a:off x="6693408" y="4700016"/>
            <a:ext cx="365760" cy="365760"/>
          </a:xfrm>
          <a:prstGeom prst="roundRect">
            <a:avLst>
              <a:gd name="adj" fmla="val 25000"/>
            </a:avLst>
          </a:prstGeom>
          <a:solidFill>
            <a:srgbClr val="C98A12"/>
          </a:solidFill>
          <a:ln w="12700">
            <a:solidFill>
              <a:srgbClr val="C98A12"/>
            </a:solidFill>
            <a:prstDash val="solid"/>
          </a:ln>
        </p:spPr>
      </p:sp>
      <p:sp>
        <p:nvSpPr>
          <p:cNvPr id="18" name="Text 16"/>
          <p:cNvSpPr txBox="1"/>
          <p:nvPr/>
        </p:nvSpPr>
        <p:spPr>
          <a:xfrm>
            <a:off x="6693408" y="470001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7168896" y="4700016"/>
            <a:ext cx="4206240" cy="365760"/>
          </a:xfrm>
          <a:prstGeom prst="rect">
            <a:avLst/>
          </a:prstGeom>
          <a:noFill/>
          <a:ln/>
        </p:spPr>
        <p:txBody>
          <a:bodyPr wrap="square" lIns="0" tIns="0" rIns="0" bIns="0" rtlCol="0" anchor="ctr"/>
          <a:lstStyle/>
          <a:p>
            <a:pPr indent="0" marL="0">
              <a:buNone/>
            </a:pPr>
            <a:r>
              <a:rPr lang="en-US" sz="1400" b="1" dirty="0">
                <a:solidFill>
                  <a:srgbClr val="8A5E08"/>
                </a:solidFill>
                <a:latin typeface="Arial" pitchFamily="34" charset="0"/>
                <a:ea typeface="Arial" pitchFamily="34" charset="-122"/>
                <a:cs typeface="Arial" pitchFamily="34" charset="-120"/>
              </a:rPr>
              <a:t>Still in flight</a:t>
            </a:r>
            <a:endParaRPr lang="en-US" sz="1400" dirty="0"/>
          </a:p>
        </p:txBody>
      </p:sp>
      <p:sp>
        <p:nvSpPr>
          <p:cNvPr id="20" name="Text 18"/>
          <p:cNvSpPr txBox="1"/>
          <p:nvPr/>
        </p:nvSpPr>
        <p:spPr>
          <a:xfrm>
            <a:off x="6693408" y="5138928"/>
            <a:ext cx="4572000" cy="731520"/>
          </a:xfrm>
          <a:prstGeom prst="rect">
            <a:avLst/>
          </a:prstGeom>
          <a:noFill/>
          <a:ln/>
        </p:spPr>
        <p:txBody>
          <a:bodyPr wrap="square" lIns="0" tIns="0" rIns="0" bIns="0" rtlCol="0" anchor="ctr"/>
          <a:lstStyle/>
          <a:p>
            <a:pPr indent="0" marL="0">
              <a:buNone/>
            </a:pPr>
            <a:r>
              <a:rPr lang="en-US" sz="1150" dirty="0">
                <a:solidFill>
                  <a:srgbClr val="6B4A06"/>
                </a:solidFill>
                <a:latin typeface="Calibri" pitchFamily="34" charset="0"/>
                <a:ea typeface="Calibri" pitchFamily="34" charset="-122"/>
                <a:cs typeface="Calibri" pitchFamily="34" charset="-120"/>
              </a:rPr>
              <a:t>The experiments are running now — no convergence numbers to show yet. What is settled is the diagnosis and the shape of the fix; the results land next sprint.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640080" y="1051560"/>
            <a:ext cx="10911535" cy="274320"/>
          </a:xfrm>
          <a:prstGeom prst="rect">
            <a:avLst/>
          </a:prstGeom>
          <a:noFill/>
          <a:ln/>
        </p:spPr>
        <p:txBody>
          <a:bodyPr wrap="square" lIns="0" tIns="0" rIns="0" bIns="0" rtlCol="0" anchor="ctr"/>
          <a:lstStyle/>
          <a:p>
            <a:pPr indent="0" marL="0">
              <a:buNone/>
            </a:pPr>
            <a:r>
              <a:rPr lang="en-US" sz="1200" b="1" spc="300" kern="0" dirty="0">
                <a:solidFill>
                  <a:srgbClr val="02C39A"/>
                </a:solidFill>
                <a:latin typeface="Arial" pitchFamily="34" charset="0"/>
                <a:ea typeface="Arial" pitchFamily="34" charset="-122"/>
                <a:cs typeface="Arial" pitchFamily="34" charset="-120"/>
              </a:rPr>
              <a:t>WHAT I'D LIKE FROM YOU</a:t>
            </a:r>
            <a:endParaRPr lang="en-US" sz="1200" dirty="0"/>
          </a:p>
        </p:txBody>
      </p:sp>
      <p:sp>
        <p:nvSpPr>
          <p:cNvPr id="3" name="Text 1"/>
          <p:cNvSpPr txBox="1"/>
          <p:nvPr/>
        </p:nvSpPr>
        <p:spPr>
          <a:xfrm>
            <a:off x="640080" y="1417320"/>
            <a:ext cx="96012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Start at level 1. It is smaller than it looks.</a:t>
            </a:r>
            <a:endParaRPr lang="en-US" sz="3000" dirty="0"/>
          </a:p>
        </p:txBody>
      </p:sp>
      <p:sp>
        <p:nvSpPr>
          <p:cNvPr id="4" name="Shape 2"/>
          <p:cNvSpPr/>
          <p:nvPr/>
        </p:nvSpPr>
        <p:spPr>
          <a:xfrm>
            <a:off x="640080" y="2377440"/>
            <a:ext cx="5285232" cy="1371600"/>
          </a:xfrm>
          <a:prstGeom prst="roundRect">
            <a:avLst>
              <a:gd name="adj" fmla="val 5333"/>
            </a:avLst>
          </a:prstGeom>
          <a:solidFill>
            <a:srgbClr val="2F3B47"/>
          </a:solidFill>
          <a:ln w="12700">
            <a:solidFill>
              <a:srgbClr val="2F3B47"/>
            </a:solidFill>
            <a:prstDash val="solid"/>
          </a:ln>
        </p:spPr>
      </p:sp>
      <p:sp>
        <p:nvSpPr>
          <p:cNvPr id="5" name="Shape 3"/>
          <p:cNvSpPr/>
          <p:nvPr/>
        </p:nvSpPr>
        <p:spPr>
          <a:xfrm>
            <a:off x="896112" y="2615184"/>
            <a:ext cx="365760" cy="365760"/>
          </a:xfrm>
          <a:prstGeom prst="roundRect">
            <a:avLst>
              <a:gd name="adj" fmla="val 25000"/>
            </a:avLst>
          </a:prstGeom>
          <a:solidFill>
            <a:srgbClr val="028090"/>
          </a:solidFill>
          <a:ln w="12700">
            <a:solidFill>
              <a:srgbClr val="028090"/>
            </a:solidFill>
            <a:prstDash val="solid"/>
          </a:ln>
        </p:spPr>
      </p:sp>
      <p:sp>
        <p:nvSpPr>
          <p:cNvPr id="6" name="Text 4"/>
          <p:cNvSpPr txBox="1"/>
          <p:nvPr/>
        </p:nvSpPr>
        <p:spPr>
          <a:xfrm>
            <a:off x="896112" y="26151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371600" y="2596896"/>
            <a:ext cx="4343400" cy="40233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Bring the chat endpoint you already have</a:t>
            </a:r>
            <a:endParaRPr lang="en-US" sz="1350" dirty="0"/>
          </a:p>
        </p:txBody>
      </p:sp>
      <p:sp>
        <p:nvSpPr>
          <p:cNvPr id="8" name="Text 6"/>
          <p:cNvSpPr txBox="1"/>
          <p:nvPr/>
        </p:nvSpPr>
        <p:spPr>
          <a:xfrm>
            <a:off x="1371600" y="3054096"/>
            <a:ext cx="4343400" cy="621792"/>
          </a:xfrm>
          <a:prstGeom prst="rect">
            <a:avLst/>
          </a:prstGeom>
          <a:noFill/>
          <a:ln/>
        </p:spPr>
        <p:txBody>
          <a:bodyPr wrap="square" lIns="0" tIns="0" rIns="0" bIns="0" rtlCol="0" anchor="ctr"/>
          <a:lstStyle/>
          <a:p>
            <a:pPr indent="0" marL="0">
              <a:buNone/>
            </a:pPr>
            <a:r>
              <a:rPr lang="en-US" sz="1150" dirty="0">
                <a:solidFill>
                  <a:srgbClr val="A8B4BE"/>
                </a:solidFill>
                <a:latin typeface="Calibri" pitchFamily="34" charset="0"/>
                <a:ea typeface="Calibri" pitchFamily="34" charset="-122"/>
                <a:cs typeface="Calibri" pitchFamily="34" charset="-120"/>
              </a:rPr>
              <a:t>If it speaks OpenAI chat completions, honour timeout_s and reuse our trace id, you can be evaluated this week.</a:t>
            </a:r>
            <a:endParaRPr lang="en-US" sz="1150" dirty="0"/>
          </a:p>
        </p:txBody>
      </p:sp>
      <p:sp>
        <p:nvSpPr>
          <p:cNvPr id="9" name="Shape 7"/>
          <p:cNvSpPr/>
          <p:nvPr/>
        </p:nvSpPr>
        <p:spPr>
          <a:xfrm>
            <a:off x="6272784" y="2377440"/>
            <a:ext cx="5285232" cy="1371600"/>
          </a:xfrm>
          <a:prstGeom prst="roundRect">
            <a:avLst>
              <a:gd name="adj" fmla="val 5333"/>
            </a:avLst>
          </a:prstGeom>
          <a:solidFill>
            <a:srgbClr val="2F3B47"/>
          </a:solidFill>
          <a:ln w="12700">
            <a:solidFill>
              <a:srgbClr val="2F3B47"/>
            </a:solidFill>
            <a:prstDash val="solid"/>
          </a:ln>
        </p:spPr>
      </p:sp>
      <p:sp>
        <p:nvSpPr>
          <p:cNvPr id="10" name="Shape 8"/>
          <p:cNvSpPr/>
          <p:nvPr/>
        </p:nvSpPr>
        <p:spPr>
          <a:xfrm>
            <a:off x="6528816" y="2615184"/>
            <a:ext cx="365760" cy="365760"/>
          </a:xfrm>
          <a:prstGeom prst="roundRect">
            <a:avLst>
              <a:gd name="adj" fmla="val 25000"/>
            </a:avLst>
          </a:prstGeom>
          <a:solidFill>
            <a:srgbClr val="028090"/>
          </a:solidFill>
          <a:ln w="12700">
            <a:solidFill>
              <a:srgbClr val="028090"/>
            </a:solidFill>
            <a:prstDash val="solid"/>
          </a:ln>
        </p:spPr>
      </p:sp>
      <p:sp>
        <p:nvSpPr>
          <p:cNvPr id="11" name="Text 9"/>
          <p:cNvSpPr txBox="1"/>
          <p:nvPr/>
        </p:nvSpPr>
        <p:spPr>
          <a:xfrm>
            <a:off x="6528816" y="26151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7004304" y="2596896"/>
            <a:ext cx="4343400" cy="40233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Hand the API reference to your coding assistant</a:t>
            </a:r>
            <a:endParaRPr lang="en-US" sz="1350" dirty="0"/>
          </a:p>
        </p:txBody>
      </p:sp>
      <p:sp>
        <p:nvSpPr>
          <p:cNvPr id="13" name="Text 11"/>
          <p:cNvSpPr txBox="1"/>
          <p:nvPr/>
        </p:nvSpPr>
        <p:spPr>
          <a:xfrm>
            <a:off x="7004304" y="3054096"/>
            <a:ext cx="4343400" cy="621792"/>
          </a:xfrm>
          <a:prstGeom prst="rect">
            <a:avLst/>
          </a:prstGeom>
          <a:noFill/>
          <a:ln/>
        </p:spPr>
        <p:txBody>
          <a:bodyPr wrap="square" lIns="0" tIns="0" rIns="0" bIns="0" rtlCol="0" anchor="ctr"/>
          <a:lstStyle/>
          <a:p>
            <a:pPr indent="0" marL="0">
              <a:buNone/>
            </a:pPr>
            <a:r>
              <a:rPr lang="en-US" sz="1150" dirty="0">
                <a:solidFill>
                  <a:srgbClr val="A8B4BE"/>
                </a:solidFill>
                <a:latin typeface="Calibri" pitchFamily="34" charset="0"/>
                <a:ea typeface="Calibri" pitchFamily="34" charset="-122"/>
                <a:cs typeface="Calibri" pitchFamily="34" charset="-120"/>
              </a:rPr>
              <a:t>It is written for exactly that: self-contained, with a reference implementation and a curl acceptance checklist.</a:t>
            </a:r>
            <a:endParaRPr lang="en-US" sz="1150" dirty="0"/>
          </a:p>
        </p:txBody>
      </p:sp>
      <p:sp>
        <p:nvSpPr>
          <p:cNvPr id="14" name="Shape 12"/>
          <p:cNvSpPr/>
          <p:nvPr/>
        </p:nvSpPr>
        <p:spPr>
          <a:xfrm>
            <a:off x="640080" y="3977640"/>
            <a:ext cx="5285232" cy="1371600"/>
          </a:xfrm>
          <a:prstGeom prst="roundRect">
            <a:avLst>
              <a:gd name="adj" fmla="val 5333"/>
            </a:avLst>
          </a:prstGeom>
          <a:solidFill>
            <a:srgbClr val="2F3B47"/>
          </a:solidFill>
          <a:ln w="12700">
            <a:solidFill>
              <a:srgbClr val="2F3B47"/>
            </a:solidFill>
            <a:prstDash val="solid"/>
          </a:ln>
        </p:spPr>
      </p:sp>
      <p:sp>
        <p:nvSpPr>
          <p:cNvPr id="15" name="Shape 13"/>
          <p:cNvSpPr/>
          <p:nvPr/>
        </p:nvSpPr>
        <p:spPr>
          <a:xfrm>
            <a:off x="896112" y="4215384"/>
            <a:ext cx="365760" cy="365760"/>
          </a:xfrm>
          <a:prstGeom prst="roundRect">
            <a:avLst>
              <a:gd name="adj" fmla="val 25000"/>
            </a:avLst>
          </a:prstGeom>
          <a:solidFill>
            <a:srgbClr val="028090"/>
          </a:solidFill>
          <a:ln w="12700">
            <a:solidFill>
              <a:srgbClr val="028090"/>
            </a:solidFill>
            <a:prstDash val="solid"/>
          </a:ln>
        </p:spPr>
      </p:sp>
      <p:sp>
        <p:nvSpPr>
          <p:cNvPr id="16" name="Text 14"/>
          <p:cNvSpPr txBox="1"/>
          <p:nvPr/>
        </p:nvSpPr>
        <p:spPr>
          <a:xfrm>
            <a:off x="896112" y="42153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1371600" y="4197096"/>
            <a:ext cx="4343400" cy="40233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Prove it with Test your server</a:t>
            </a:r>
            <a:endParaRPr lang="en-US" sz="1350" dirty="0"/>
          </a:p>
        </p:txBody>
      </p:sp>
      <p:sp>
        <p:nvSpPr>
          <p:cNvPr id="18" name="Text 16"/>
          <p:cNvSpPr txBox="1"/>
          <p:nvPr/>
        </p:nvSpPr>
        <p:spPr>
          <a:xfrm>
            <a:off x="1371600" y="4654296"/>
            <a:ext cx="4343400" cy="621792"/>
          </a:xfrm>
          <a:prstGeom prst="rect">
            <a:avLst/>
          </a:prstGeom>
          <a:noFill/>
          <a:ln/>
        </p:spPr>
        <p:txBody>
          <a:bodyPr wrap="square" lIns="0" tIns="0" rIns="0" bIns="0" rtlCol="0" anchor="ctr"/>
          <a:lstStyle/>
          <a:p>
            <a:pPr indent="0" marL="0">
              <a:buNone/>
            </a:pPr>
            <a:r>
              <a:rPr lang="en-US" sz="1150" dirty="0">
                <a:solidFill>
                  <a:srgbClr val="A8B4BE"/>
                </a:solidFill>
                <a:latin typeface="Calibri" pitchFamily="34" charset="0"/>
                <a:ea typeface="Calibri" pitchFamily="34" charset="-122"/>
                <a:cs typeface="Calibri" pitchFamily="34" charset="-120"/>
              </a:rPr>
              <a:t>Before you wire up a run — it tells you which of the three levels you have actually reached.</a:t>
            </a:r>
            <a:endParaRPr lang="en-US" sz="1150" dirty="0"/>
          </a:p>
        </p:txBody>
      </p:sp>
      <p:sp>
        <p:nvSpPr>
          <p:cNvPr id="19" name="Shape 17"/>
          <p:cNvSpPr/>
          <p:nvPr/>
        </p:nvSpPr>
        <p:spPr>
          <a:xfrm>
            <a:off x="6272784" y="3977640"/>
            <a:ext cx="5285232" cy="1371600"/>
          </a:xfrm>
          <a:prstGeom prst="roundRect">
            <a:avLst>
              <a:gd name="adj" fmla="val 5333"/>
            </a:avLst>
          </a:prstGeom>
          <a:solidFill>
            <a:srgbClr val="2F3B47"/>
          </a:solidFill>
          <a:ln w="12700">
            <a:solidFill>
              <a:srgbClr val="2F3B47"/>
            </a:solidFill>
            <a:prstDash val="solid"/>
          </a:ln>
        </p:spPr>
      </p:sp>
      <p:sp>
        <p:nvSpPr>
          <p:cNvPr id="20" name="Shape 18"/>
          <p:cNvSpPr/>
          <p:nvPr/>
        </p:nvSpPr>
        <p:spPr>
          <a:xfrm>
            <a:off x="6528816" y="4215384"/>
            <a:ext cx="365760" cy="365760"/>
          </a:xfrm>
          <a:prstGeom prst="roundRect">
            <a:avLst>
              <a:gd name="adj" fmla="val 25000"/>
            </a:avLst>
          </a:prstGeom>
          <a:solidFill>
            <a:srgbClr val="028090"/>
          </a:solidFill>
          <a:ln w="12700">
            <a:solidFill>
              <a:srgbClr val="028090"/>
            </a:solidFill>
            <a:prstDash val="solid"/>
          </a:ln>
        </p:spPr>
      </p:sp>
      <p:sp>
        <p:nvSpPr>
          <p:cNvPr id="21" name="Text 19"/>
          <p:cNvSpPr txBox="1"/>
          <p:nvPr/>
        </p:nvSpPr>
        <p:spPr>
          <a:xfrm>
            <a:off x="6528816" y="42153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7004304" y="4197096"/>
            <a:ext cx="4343400" cy="40233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Tell me where the doc made you guess</a:t>
            </a:r>
            <a:endParaRPr lang="en-US" sz="1350" dirty="0"/>
          </a:p>
        </p:txBody>
      </p:sp>
      <p:sp>
        <p:nvSpPr>
          <p:cNvPr id="23" name="Text 21"/>
          <p:cNvSpPr txBox="1"/>
          <p:nvPr/>
        </p:nvSpPr>
        <p:spPr>
          <a:xfrm>
            <a:off x="7004304" y="4654296"/>
            <a:ext cx="4343400" cy="621792"/>
          </a:xfrm>
          <a:prstGeom prst="rect">
            <a:avLst/>
          </a:prstGeom>
          <a:noFill/>
          <a:ln/>
        </p:spPr>
        <p:txBody>
          <a:bodyPr wrap="square" lIns="0" tIns="0" rIns="0" bIns="0" rtlCol="0" anchor="ctr"/>
          <a:lstStyle/>
          <a:p>
            <a:pPr indent="0" marL="0">
              <a:buNone/>
            </a:pPr>
            <a:r>
              <a:rPr lang="en-US" sz="1150" dirty="0">
                <a:solidFill>
                  <a:srgbClr val="A8B4BE"/>
                </a:solidFill>
                <a:latin typeface="Calibri" pitchFamily="34" charset="0"/>
                <a:ea typeface="Calibri" pitchFamily="34" charset="-122"/>
                <a:cs typeface="Calibri" pitchFamily="34" charset="-120"/>
              </a:rPr>
              <a:t>Ambiguity in that page is a bug in that page, and it is the cheapest thing on this list for me to fix.</a:t>
            </a:r>
            <a:endParaRPr lang="en-US" sz="1150" dirty="0"/>
          </a:p>
        </p:txBody>
      </p:sp>
      <p:sp>
        <p:nvSpPr>
          <p:cNvPr id="24" name="Text 22"/>
          <p:cNvSpPr txBox="1"/>
          <p:nvPr/>
        </p:nvSpPr>
        <p:spPr>
          <a:xfrm>
            <a:off x="640080" y="5806440"/>
            <a:ext cx="10911535" cy="365760"/>
          </a:xfrm>
          <a:prstGeom prst="rect">
            <a:avLst/>
          </a:prstGeom>
          <a:noFill/>
          <a:ln/>
        </p:spPr>
        <p:txBody>
          <a:bodyPr wrap="square" lIns="0" tIns="0" rIns="0" bIns="0" rtlCol="0" anchor="ctr"/>
          <a:lstStyle/>
          <a:p>
            <a:pPr indent="0" marL="0">
              <a:buNone/>
            </a:pPr>
            <a:r>
              <a:rPr lang="en-US" sz="1700" b="1" dirty="0">
                <a:solidFill>
                  <a:srgbClr val="02C39A"/>
                </a:solidFill>
                <a:latin typeface="Arial" pitchFamily="34" charset="0"/>
                <a:ea typeface="Arial" pitchFamily="34" charset="-122"/>
                <a:cs typeface="Arial" pitchFamily="34" charset="-120"/>
              </a:rPr>
              <a:t>Questions?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Plugging your domain agent into the platform</dc:title>
  <dc:subject>PptxGenJS Presentation</dc:subject>
  <dc:creator>Sprint demo</dc:creator>
  <cp:lastModifiedBy>Sprint demo</cp:lastModifiedBy>
  <cp:revision>1</cp:revision>
  <dcterms:created xsi:type="dcterms:W3CDTF">2026-09-10T17:01:32Z</dcterms:created>
  <dcterms:modified xsi:type="dcterms:W3CDTF">2026-09-10T17:01:32Z</dcterms:modified>
</cp:coreProperties>
</file>