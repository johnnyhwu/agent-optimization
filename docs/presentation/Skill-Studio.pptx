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開場一句：這個系統是在開發內部 agent 的過程中，被我們自己的痛點逼出來的 ——</a:t>
            </a:r>
          </a:p>
          <a:p>
            <a:r>
              <a:t>不是先有系統再找問題，是先有四個每天都在痛的地方。</a:t>
            </a:r>
          </a:p>
          <a:p>
            <a:r>
              <a:t>時間分配先講：前面 8 分鐘講痛點、中間 5 分鐘實機 demo、後面 8 分鐘講演算法。</a:t>
            </a:r>
          </a:p>
          <a:p>
            <a:r>
              <a:t>如果聽眾裡有人沒碰過 agent 開發，補一句：我們的 agent 是 stateless 的，每題都重新開始，</a:t>
            </a:r>
          </a:p>
          <a:p>
            <a:r>
              <a:t>先挑一份 skill（開發者寫的 playbook），再一路 tool calling 到答案。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不要在這頁停超過 20 秒，講完就進第一部分。</a:t>
            </a:r>
          </a:p>
          <a:p>
            <a:r>
              <a:t>提醒自己：前兩部分是鋪陳，真正的重頭戲是 demo 跟第三部分的演算法。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這張是第一部分的地圖，四個號碼後面那頁會一一對上。</a:t>
            </a:r>
          </a:p>
          <a:p>
            <a:r>
              <a:t>關鍵的一句：這四件事不是四個零散的需求，是同一條迴圈上的四個斷點。</a:t>
            </a:r>
          </a:p>
          <a:p>
            <a:r>
              <a:t>Langfuse 那句一定要唸出來 —— 在場可能有 Langfuse 的支持者。我們沒有要取代它，</a:t>
            </a:r>
          </a:p>
          <a:p>
            <a:r>
              <a:t>trace 到今天都還存在 Langfuse、從 Langfuse 讀；我們補的是它沒有、而且我們也改不了它</a:t>
            </a:r>
          </a:p>
          <a:p>
            <a:r>
              <a:t>source code 去補的那一段。</a:t>
            </a:r>
          </a:p>
          <a:p>
            <a:r>
              <a:t>中間那個數字講慢一點：一個新 topic 從 0% 爬到 90% 以上，短則三天，長則兩週。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四格照順序講，每格大約 20 秒，不要展開細節。</a:t>
            </a:r>
          </a:p>
          <a:p/>
          <a:p>
            <a:r>
              <a:t>1 config：run 記下的是「觸發它的完整設定」，而不是對環境的 delta —— 空欄位在啟動當下</a:t>
            </a:r>
          </a:p>
          <a:p>
            <a:r>
              <a:t>  就解析成實際值。所以三個月後打開還知道它當初跑的是什麼。</a:t>
            </a:r>
          </a:p>
          <a:p>
            <a:r>
              <a:t>2 診斷：把開發者寫的「理想推理流程白話描述」跟實際 trace 一起交給 LLM，問兩者在哪裡分岔。</a:t>
            </a:r>
          </a:p>
          <a:p>
            <a:r>
              <a:t>  a clue, not a verdict 這句要停一下：可以有多個嫌疑、confidence 只有三檔、還有 caveat</a:t>
            </a:r>
          </a:p>
          <a:p>
            <a:r>
              <a:t>  可以說「這題不該歸給單一 span」。因為「錯誤可歸因到單一 span」這個假設常常是錯的</a:t>
            </a:r>
          </a:p>
          <a:p>
            <a:r>
              <a:t>  （compounding error、好幾條都對的路徑、錯在 tool 不在 skill）。過度自信會把人帶去</a:t>
            </a:r>
          </a:p>
          <a:p>
            <a:r>
              <a:t>  錯的方向，而且帶著假的權威。</a:t>
            </a:r>
          </a:p>
          <a:p>
            <a:r>
              <a:t>3 Playground：一題、一份可編輯的 skill 副本、一個按鈕，跑完整 trajectory 並自動判分。</a:t>
            </a:r>
          </a:p>
          <a:p>
            <a:r>
              <a:t>  誠實補一句：平台不保證 agent 真的吃了你的 override，UI 上直說這件事；證據是那段文字</a:t>
            </a:r>
          </a:p>
          <a:p>
            <a:r>
              <a:t>  會出現在第一個 span 的 system message。</a:t>
            </a:r>
          </a:p>
          <a:p>
            <a:r>
              <a:t>4 Shortlist：Draft from trace 讓 LLM 讀 trace 先寫一版 thinking process 草稿。</a:t>
            </a:r>
          </a:p>
          <a:p>
            <a:r>
              <a:t>  預填的 expected answer 標成 unverified —— 照單全收等於斷言 agent 已經是對的，</a:t>
            </a:r>
          </a:p>
          <a:p>
            <a:r>
              <a:t>  那題會永遠通過，永遠抓不到答案變壞。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前面四個是流程上的摩擦，這一個是本質上的慢，而且是 Part 3 的入口。</a:t>
            </a:r>
          </a:p>
          <a:p>
            <a:r>
              <a:t>一句可以引起共鳴的話：and frankly, nobody enjoys tuning prompts.</a:t>
            </a:r>
          </a:p>
          <a:p>
            <a:r>
              <a:t>用語刻意對齊深度學習 —— epoch、step、learning rate、validation gate ——</a:t>
            </a:r>
          </a:p>
          <a:p>
            <a:r>
              <a:t>在場都是工程師，一聽就知道每個詞在做什麼。</a:t>
            </a:r>
          </a:p>
          <a:p>
            <a:r>
              <a:t>zip 不自動寫回是刻意的：寫回 agent server 需要 skill 更新 API 跟版本控制 / rollback，</a:t>
            </a:r>
          </a:p>
          <a:p>
            <a:r>
              <a:t>那是另一個題目。這點如果有人追問，附錄 C 有完整的「刻意不做」清單。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兩個重點就好，不要逐格唸。</a:t>
            </a:r>
          </a:p>
          <a:p/>
          <a:p>
            <a:r>
              <a:t>一、七個 seam：每個外部相依都是一個 Python Protocol，各有 fake 跟 real 兩種實作，</a:t>
            </a:r>
          </a:p>
          <a:p>
            <a:r>
              <a:t>    各自獨立切換、預設全 fake。所以整套在一台只有 Docker 的機器上就跑得起來，</a:t>
            </a:r>
          </a:p>
          <a:p>
            <a:r>
              <a:t>    新人上手跟 demo 都靠這個。</a:t>
            </a:r>
          </a:p>
          <a:p>
            <a:r>
              <a:t>二、分工：Langfuse 擁有 trace，我們擁有 Langfuse 表達不了的東西。span 的</a:t>
            </a:r>
          </a:p>
          <a:p>
            <a:r>
              <a:t>    input / output / token 是看的時候才去 Langfuse 讀，從來不複製進我們的資料庫。</a:t>
            </a:r>
          </a:p>
          <a:p/>
          <a:p>
            <a:r>
              <a:t>correlation id 是整個錯誤定位的前提：我們在呼叫前產生一個 id 放在 metadata，</a:t>
            </a:r>
          </a:p>
          <a:p>
            <a:r>
              <a:t>agent server 必須拿它當 Langfuse 的 trace id。沒有它，平台就找不到自己剛剛造成的</a:t>
            </a:r>
          </a:p>
          <a:p>
            <a:r>
              <a:t>那條 trace。這是唯一一件必須在我們 repo 之外改的事 —— 細節在附錄 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數字講得保守而具體。重點不是準確率提高多少，是人的時間從哪裡挪到哪裡。</a:t>
            </a:r>
          </a:p>
          <a:p>
            <a:r>
              <a:t>「下班前按下去、隔天早上看結果」這句最有畫面。</a:t>
            </a:r>
          </a:p>
          <a:p/>
          <a:p>
            <a:r>
              <a:t>最後一顆 bullet 一定要唸出來，而且要補完整：optimizer 缺台積內部 domain knowledge 的</a:t>
            </a:r>
          </a:p>
          <a:p>
            <a:r>
              <a:t>時候，準確率就是卡在 80% 左右，最後那一段還是要人補 —— 差別在於人接手的時候，手上是一份</a:t>
            </a:r>
          </a:p>
          <a:p>
            <a:r>
              <a:t>已經通過驗證的 skill，而不是一張白紙。所以不能按下去就走人，隔天還是要有人讀那份 diff。</a:t>
            </a:r>
          </a:p>
          <a:p/>
          <a:p>
            <a:r>
              <a:t>如果有人問「那有什麼是你們刻意沒做的」，直接跳附錄 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切到瀏覽器。五分鐘，照這五步走，不要臨時發散。</a:t>
            </a:r>
          </a:p>
          <a:p>
            <a:r>
              <a:t>如果某一步卡住（例如 agent server 慢），直接說「這步平常大概十秒」然後跳下一步，</a:t>
            </a:r>
          </a:p>
          <a:p>
            <a:r>
              <a:t>不要在台上 debug。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進重頭戲。一句話定調：all the learning happens in one text file, the model is never touched.</a:t>
            </a:r>
          </a:p>
          <a:p>
            <a:r>
              <a:t>出處講清楚：微軟的論文，我們的實作 vendored 自 microsoft/SkillOpt，只有兩件事換成我們</a:t>
            </a:r>
          </a:p>
          <a:p>
            <a:r>
              <a:t>自己的 —— 打我們的 target agent、用我們的 LLM judge 評分。反向傳播（reflect）、</a:t>
            </a:r>
          </a:p>
          <a:p>
            <a:r>
              <a:t>gradient 聚合、learning rate 裁切、validation gate 全部是原本的。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先破題：為什麼不是大家最直覺的那個做法 —— 讓模型自己反思、自己改 prompt。</a:t>
            </a:r>
          </a:p>
          <a:p>
            <a:r>
              <a:t>Dynamic Cheatsheet、Agentic Context Engineering 這類 test-time 的做法走的都是這條路。</a:t>
            </a:r>
          </a:p>
          <a:p>
            <a:r>
              <a:t>三個問題裡第三個最值得強調：上一次學到的教訓會被這一次的補丁默默覆蓋掉，</a:t>
            </a:r>
          </a:p>
          <a:p>
            <a:r>
              <a:t>而且你不會收到任何通知 —— 這就是發生在純文字上的災難性遺忘。</a:t>
            </a:r>
          </a:p>
          <a:p>
            <a:r>
              <a:t>SkillOpt 的回答不是再打一個補丁，而是換框架：把技能檔案當成深度學習優化器眼中的</a:t>
            </a:r>
          </a:p>
          <a:p>
            <a:r>
              <a:t>權重張量，受控、有界、通過驗證才保留，沒幫助就回滾。目標模型一個參數都不動。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這張是後面所有東西的地圖。對工程師聽眾來說，這張表講完，後面五個機制都有位置可以掛。</a:t>
            </a:r>
          </a:p>
          <a:p>
            <a:r>
              <a:t>講法：右邊每一個機制存在的目的，都是為了讓左邊那一欄真的能在文字空間裡運作起來。</a:t>
            </a:r>
          </a:p>
          <a:p>
            <a:r>
              <a:t>每一列都可以補一句「它在防什麼」：</a:t>
            </a:r>
          </a:p>
          <a:p>
            <a:r>
              <a:t>  參數 —— 一份 300 到 2,000 token 的 Markdown。</a:t>
            </a:r>
          </a:p>
          <a:p>
            <a:r>
              <a:t>  梯度 —— 防的是對單一軌跡的雜訊過擬合。</a:t>
            </a:r>
          </a:p>
          <a:p>
            <a:r>
              <a:t>  學習率 —— 防的是一步邁太大、把已經運作的部分拆掉。</a:t>
            </a:r>
          </a:p>
          <a:p>
            <a:r>
              <a:t>  驗證 checkpoint —— 防的是「看起來合理」但其實沒有幫助的修改。</a:t>
            </a:r>
          </a:p>
          <a:p>
            <a:r>
              <a:t>  動量 —— 防的是短期補丁一點一點侵蝕長期的教訓。</a:t>
            </a:r>
          </a:p>
          <a:p>
            <a:r>
              <a:t>如果時間緊，這頁可以講久一點、後面每格講短一點，因為有了這張表，細節會自己對號入座。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兩個模型徹底分開，是這套設計在部署階段成本為零的原因。</a:t>
            </a:r>
          </a:p>
          <a:p>
            <a:r>
              <a:t>目標模型是凍結的，連它自己原生的 system prompt 都不動；唯一會變的是被塞進去的那份 skill。</a:t>
            </a:r>
          </a:p>
          <a:p>
            <a:r>
              <a:t>優化器模型完全不碰任務，只讀軌跡跟分數、提出修改，而且只在離線階段運作 ——</a:t>
            </a:r>
          </a:p>
          <a:p>
            <a:r>
              <a:t>通常是一個能力更強的前沿模型。</a:t>
            </a:r>
          </a:p>
          <a:p>
            <a:r>
              <a:t>訓練一結束，優化器那一側的 API 花費就整個消失，上線的只有凍結模型加一份小小的文字檔。</a:t>
            </a:r>
          </a:p>
          <a:p>
            <a:r>
              <a:t>這也是為什麼它適合我們：正式環境不會因此變慢，也不會變貴。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先給全景，再一格一格拆。告訴聽眾：接下來五頁都是同一張圖，只是輪流把其中一格點亮，</a:t>
            </a:r>
          </a:p>
          <a:p>
            <a:r>
              <a:t>不用擔心迷路。</a:t>
            </a:r>
          </a:p>
          <a:p>
            <a:r>
              <a:t>整段的核心句就是投影片上那一句：先收證據，再動手，然後必須通過一場它沒看過的考試才算數。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是刻意的大批次。如果只對一條失敗軌跡反應，優化器會對造成那次失敗的特定雜訊過擬合</a:t>
            </a:r>
          </a:p>
          <a:p>
            <a:r>
              <a:t>     —— 一次網路延遲、一個措辭特別奇怪的輸入 —— 而不是找出真正反覆出現的模式。</a:t>
            </a:r>
          </a:p>
          <a:p>
            <a:r>
              <a:t>     分池也要講：失敗池找的是修復（什麼壞掉了、怎麼補），成功池找的是強化 ——</a:t>
            </a:r>
          </a:p>
          <a:p>
            <a:r>
              <a:t>     那些已經在發揮作用、但還沒被寫進技能文件的好習慣。沒被記錄下來，下一次未必還能</a:t>
            </a:r>
          </a:p>
          <a:p>
            <a:r>
              <a:t>     靠運氣重現。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為什麼是 8：1 會重現我們剛剛才避開的單軌過擬合；把一整池二十幾條全塞進一次呼叫，</a:t>
            </a:r>
          </a:p>
          <a:p>
            <a:r>
              <a:t>     會超出有用的上下文範圍，還會招致 lost-in-the-middle。</a:t>
            </a:r>
          </a:p>
          <a:p>
            <a:r>
              <a:t>     8 剛好小到留在上下文限制內，又大到足以逼模型橫向比較，找出跨任務共同出現的失敗模式。</a:t>
            </a:r>
          </a:p>
          <a:p>
            <a:r>
              <a:t>     形狀正好是 MapReduce：每個 minibatch 獨立分析（Map），建議之後再彙整（Reduce）。</a:t>
            </a:r>
          </a:p>
          <a:p>
            <a:r>
              <a:t>     兩位分析師：analyst_error.md 看失敗，analyst_success.md 看成功，回傳的是原子操作</a:t>
            </a:r>
          </a:p>
          <a:p>
            <a:r>
              <a:t>     —— append / insert_after / replace / delete —— 每一項都精確定位在文件中的某個目標字串。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並行的代價是：回來的是好幾份可能重疊、有時互相矛盾的清單，必須收斂成一份。</a:t>
            </a:r>
          </a:p>
          <a:p>
            <a:r>
              <a:t>     兩階段：池內的樹狀合併（每批最多 8 份兩兩合併），然後跨池合併。</a:t>
            </a:r>
          </a:p>
          <a:p>
            <a:r>
              <a:t>     support_count 是很實用的設計：幾個獨立的分析師提出了等價的建議，就是這個模式</a:t>
            </a:r>
          </a:p>
          <a:p>
            <a:r>
              <a:t>     有多常出現的粗略指標。</a:t>
            </a:r>
          </a:p>
          <a:p>
            <a:r>
              <a:t>     跨池的規則毫不含糊：修復失敗永遠優先。同一個位置上，失敗池的版本保留，沒有例外。</a:t>
            </a:r>
          </a:p>
          <a:p>
            <a:r>
              <a:t>     修好壞掉的東西，優先級嚴格高於強化已經運作良好的東西。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這是學習率在文字空間的直接對應，也是最好懂的一個類比。</a:t>
            </a:r>
          </a:p>
          <a:p>
            <a:r>
              <a:t>     一次套用太多修改，就跟梯度下降踩了太大的步伐一樣：文件會陷入不穩定，</a:t>
            </a:r>
          </a:p>
          <a:p>
            <a:r>
              <a:t>     丟失先前辛苦累積的教訓。</a:t>
            </a:r>
          </a:p>
          <a:p>
            <a:r>
              <a:t>     餘弦衰減的意思：前期文件大部分還是空的，大幅度的結構性修改是安全而且有用的；</a:t>
            </a:r>
          </a:p>
          <a:p>
            <a:r>
              <a:t>     後期文件已經有實質內容，就只該讓小幅度的用詞微調通過。</a:t>
            </a:r>
          </a:p>
          <a:p>
            <a:r>
              <a:t>     四個排序準則裡，第一個直接掛在 support_count 上 —— 修好越多條軌跡的排越前面。</a:t>
            </a:r>
          </a:p>
          <a:p>
            <a:r>
              <a:t>     只有前 Lt 名進得了候選技能。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這是整套設計裡最重要的一項工程紀律，直接借用標準 ML 實務：資料隔離。</a:t>
            </a:r>
          </a:p>
          <a:p>
            <a:r>
              <a:t>     優化器永遠只看得到訓練集的軌跡，完全看不到 D_sel。</a:t>
            </a:r>
          </a:p>
          <a:p>
            <a:r>
              <a:t>     接受規則是嚴格大於 —— 平手不算。這條門檻堵住的正是迭代式提示詞編輯最常見的失敗模式：</a:t>
            </a:r>
          </a:p>
          <a:p>
            <a:r>
              <a:t>     一連串各自看起來都合理的修改，加起來只是增加雜訊跟讓文件膨脹。</a:t>
            </a:r>
          </a:p>
          <a:p>
            <a:r>
              <a:t>     被拒絕的修改不浪費：連同它想修的失敗模式、掉了幾分，一起注入下一步的 prompt，</a:t>
            </a:r>
          </a:p>
          <a:p>
            <a:r>
              <a:t>     意思是「我們試過了，它傷分數，別再提一樣的建議」。</a:t>
            </a:r>
          </a:p>
          <a:p>
            <a:r>
              <a:t>     最後那個工程保險值得講，因為在場都是工程師：LLM 偶爾會幻覺出一個文件裡根本沒有的</a:t>
            </a:r>
          </a:p>
          <a:p>
            <a:r>
              <a:t>     目標字串，那一項就標成 skip、記進 edit_apply_report.json，同批其他修改照常套用。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逐步的修改在設計上本來就是短視的 —— 每一步都只針對最近這批 40 題反應。</a:t>
            </a:r>
          </a:p>
          <a:p>
            <a:r>
              <a:t>所以加了第二層比較慢的控制迴圈，每個 epoch 才跑一次。</a:t>
            </a:r>
          </a:p>
          <a:p>
            <a:r>
              <a:t>慢速更新：抽 20 題，讓舊 skill 跟新 skill 跑同一份固定的考卷，這是受控的 A/B，</a:t>
            </a:r>
          </a:p>
          <a:p>
            <a:r>
              <a:t>不是單純比原始分數。四種狀態裡「退步」最重要 —— 它是最清楚的訊號，說明最近這些</a:t>
            </a:r>
          </a:p>
          <a:p>
            <a:r>
              <a:t>各自都通過了驗證的修改，加起來卻讓某些東西更糟。</a:t>
            </a:r>
          </a:p>
          <a:p>
            <a:r>
              <a:t>結果寫進 SLOW_UPDATE_START 標記的受保護區塊，一般的 step 級修改在這個 epoch 剩下的</a:t>
            </a:r>
          </a:p>
          <a:p>
            <a:r>
              <a:t>時間裡碰不到它。這就是動量。即使是它，也一樣要過 D_sel 守門。</a:t>
            </a:r>
          </a:p>
          <a:p>
            <a:r>
              <a:t>meta skill 是另一個乾淨的元學習例子：優化器寫給自己的筆記，目標模型永遠看不到，</a:t>
            </a:r>
          </a:p>
          <a:p>
            <a:r>
              <a:t>所以部署出去的 skill 一個 token 都不會變胖。</a:t>
            </a:r>
          </a:p>
          <a:p>
            <a:r>
              <a:t>最後補一句我們自己的狀態：這兩項我們已經接線，但預設是關掉的。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這頁回答在場一定有人在想的問題：講了這麼多機制，它到底學出什麼東西？</a:t>
            </a:r>
          </a:p>
          <a:p>
            <a:r>
              <a:t>念一兩條就好。SpreadsheetBench 那條最好懂：先檢查活頁簿的結構與公式，然後把算好的</a:t>
            </a:r>
          </a:p>
          <a:p>
            <a:r>
              <a:t>靜態值寫進整個目標範圍，不要指望 Excel 自己重算。</a:t>
            </a:r>
          </a:p>
          <a:p>
            <a:r>
              <a:t>這正是一個資深工程師會在 code review 裡講的那種話 —— 具體、可操作、是一條普遍規則</a:t>
            </a:r>
          </a:p>
          <a:p>
            <a:r>
              <a:t>而不是某一題的答案。這也是為什麼前面那四個排序準則長那樣：它們就是在逼優化器寫出</a:t>
            </a:r>
          </a:p>
          <a:p>
            <a:r>
              <a:t>這種句子。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52 個（模型、基準測試、執行環境）組合，每一個都是最佳或並列最佳。</a:t>
            </a:r>
          </a:p>
          <a:p>
            <a:r>
              <a:t>提升幅度取決於執行環境，三個數字念一下就好。</a:t>
            </a:r>
          </a:p>
          <a:p>
            <a:r>
              <a:t>Codex 那個數字最值得玩味：它暗示在操作工具的 agent 身上，還有大量空間不在底層模型的</a:t>
            </a:r>
          </a:p>
          <a:p>
            <a:r>
              <a:t>能力上，而在於周邊的操作流程被講清楚了多少 —— 這正好就是我們在做的事。</a:t>
            </a:r>
          </a:p>
          <a:p>
            <a:r>
              <a:t>「1 到 4 次被接受的修改」這件事要停一下：驗證守門把絕大多數提出的修改都擋下來了，</a:t>
            </a:r>
          </a:p>
          <a:p>
            <a:r>
              <a:t>這種選擇性正是這種謹慎系統應該有的樣子。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這是全篇最有說服力的一個數字。一份在 Codex 環境裡針對試算表任務訓練出來的技能，</a:t>
            </a:r>
          </a:p>
          <a:p>
            <a:r>
              <a:t>在完全沒有進一步優化的情況下直接丟進 Claude Code，把分數從 22.1 拉到 81.8 ——</a:t>
            </a:r>
          </a:p>
          <a:p>
            <a:r>
              <a:t>而且超過了直接在 Claude Code 環境裡訓練出來的 80.4。</a:t>
            </a:r>
          </a:p>
          <a:p>
            <a:r>
              <a:t>這強烈暗示，優化器萃取出來的東西更接近「該怎麼思考這類任務」，而不是</a:t>
            </a:r>
          </a:p>
          <a:p>
            <a:r>
              <a:t>「該怎麼針對這個執行環境的語法措辭」。</a:t>
            </a:r>
          </a:p>
          <a:p>
            <a:r>
              <a:t>三個遷移軸向 —— 模型規模、執行環境、基準測試 —— 沒有任何一個遷移後的欄位，</a:t>
            </a:r>
          </a:p>
          <a:p>
            <a:r>
              <a:t>低於目標自己的無技能基準線。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驗證集分數（橘線）的最高點，跟測試集分數（綠線）的最高點高度重合。</a:t>
            </a:r>
          </a:p>
          <a:p>
            <a:r>
              <a:t>這在統計上是一個很好的訊號：代表驗證守門機制真正挑出來的，是泛化能力最好的版本，</a:t>
            </a:r>
          </a:p>
          <a:p>
            <a:r>
              <a:t>而不是恰好在訓練批次上表現亮眼、換個題目就現形的過擬合版本。</a:t>
            </a:r>
          </a:p>
          <a:p>
            <a:r>
              <a:t>第二點是另一篇的結果：即使把「教練」降級成跟目標模型同一個（規模小得多的）模型</a:t>
            </a:r>
          </a:p>
          <a:p>
            <a:r>
              <a:t>—— 也就是自己優化自己 —— 有界更新加上驗證守門這套機制，依然足以挽回 56% 到 74%</a:t>
            </a:r>
          </a:p>
          <a:p>
            <a:r>
              <a:t>的收益。對沒有前沿模型預算的團隊來說，這是很實際的結論。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這頁是我們自己的判斷，不是論文的內容 —— 值得花一點時間，因為這是「我們做了什麼」的答案。</a:t>
            </a:r>
          </a:p>
          <a:p>
            <a:r>
              <a:t>背景：routing mode 一開始就是把同一套演算法指到另一個欄位，那就是這頁記錄的錯誤。</a:t>
            </a:r>
          </a:p>
          <a:p>
            <a:r>
              <a:t>症狀是：routing run 的分數一直動，從來不收斂。</a:t>
            </a:r>
          </a:p>
          <a:p/>
          <a:p>
            <a:r>
              <a:t>一、兩個 routing minibatch 各自 replace 同一行，本質上互斥；而 merge 拿到的是編輯、</a:t>
            </a:r>
          </a:p>
          <a:p>
            <a:r>
              <a:t>    不是背後的題目 —— 能決定的證據在上一階段就被丟掉了。</a:t>
            </a:r>
          </a:p>
          <a:p>
            <a:r>
              <a:t>    改法：整批只做一次 analyst 呼叫，把選擇留在有證據的地方。</a:t>
            </a:r>
          </a:p>
          <a:p>
            <a:r>
              <a:t>二、失敗與成功是同一個決策邊界的兩面。分開問，失敗分析師會提收窄（看不見收窄弄壞了</a:t>
            </a:r>
          </a:p>
          <a:p>
            <a:r>
              <a:t>    什麼）、成功分析師會提放寬（看不見誤觸的那些）—— 這就是一台震盪產生器。</a:t>
            </a:r>
          </a:p>
          <a:p>
            <a:r>
              <a:t>    改法：一起送，當成一個受約束的問題：涵蓋這些、排除那些。</a:t>
            </a:r>
          </a:p>
          <a:p>
            <a:r>
              <a:t>三、路由決策發生在 agent 動作之前，完整觀測只有（題目、被標記的 skill、實際開啟的 skill）。</a:t>
            </a:r>
          </a:p>
          <a:p>
            <a:r>
              <a:t>    工具目錄、對話、答案全都付了錢卻無法影響編輯。正因為觀測便宜到一行，前兩點才付得起：</a:t>
            </a:r>
          </a:p>
          <a:p>
            <a:r>
              <a:t>    一整個訓練批次塞得進一個 prompt，比舊的八條軌跡還短。</a:t>
            </a:r>
          </a:p>
          <a:p>
            <a:r>
              <a:t>順帶一提：routing 不送 gold answer，所以答案外洩的面在這條路上直接消失，不只是被擋住。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兩個方向都是我們自己跑下來看到的問題，不是為了列論文而列。</a:t>
            </a:r>
          </a:p>
          <a:p>
            <a:r>
              <a:t>上面那條成本數字就是動機：一次十幾個小時、燒掉的 token 不少，而最後被接受的修改</a:t>
            </a:r>
          </a:p>
          <a:p>
            <a:r>
              <a:t>只有一兩次。效率還有很大空間。</a:t>
            </a:r>
          </a:p>
          <a:p>
            <a:r>
              <a:t>SkillOpt-Lite 跟 NPO 是直接命中「同樣效果、更低訓練成本」這題的。</a:t>
            </a:r>
          </a:p>
          <a:p>
            <a:r>
              <a:t>Skill Self-Play 跟 SkillWiki 是相鄰方向：一個講怎麼自動生出訓練任務，</a:t>
            </a:r>
          </a:p>
          <a:p>
            <a:r>
              <a:t>一個講 domain knowledge 怎麼有來源地進到 skill 裡 —— 不要含糊地都說成「效率」。</a:t>
            </a:r>
          </a:p>
          <a:p>
            <a:r>
              <a:t>第二個方向是我們自己的痛：SkillOpt 訓練出來的 skill 普遍偏長，而新的 domain knowledge</a:t>
            </a:r>
          </a:p>
          <a:p>
            <a:r>
              <a:t>會一直加進來，只會越來越長。SkillZip 的角度很有意思 —— 免評估，靠找出可重用的結構來壓。</a:t>
            </a:r>
          </a:p>
          <a:p>
            <a:r>
              <a:t>為什麼「免評估」對我們特別有價值：我們最貴的東西就是 rollout。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這一頁是最後一張主投影片，Q&amp;A 全程留在螢幕上，不要再翻到空白頁或「謝謝聆聽」。</a:t>
            </a:r>
          </a:p>
          <a:p>
            <a:r>
              <a:t>三句話唸完就開放提問。</a:t>
            </a:r>
          </a:p>
          <a:p>
            <a:r>
              <a:t>如果有人想自己試：repo 裡一行就起得來，七個 seam 預設全 fake，</a:t>
            </a:r>
          </a:p>
          <a:p>
            <a:r>
              <a:t>不需要接任何真實服務就能把整個流程走一遍。</a:t>
            </a:r>
          </a:p>
          <a:p>
            <a:r>
              <a:t>最可能被問到的三題，對應的附錄：接口怎麼接（附錄 A）、每個機制是不是都有用（附錄 B）、</a:t>
            </a:r>
          </a:p>
          <a:p>
            <a:r>
              <a:t>有什麼是刻意沒做的（附錄 C）。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不用唸，留給想抄連結的人。被問到出處時翻回這一頁。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只有在被問「我要怎麼把我的 agent 接上來」的時候才翻到這頁。</a:t>
            </a:r>
          </a:p>
          <a:p>
            <a:r>
              <a:t>correlation id 是整個錯誤定位的前提，也是唯一一件必須在我們 repo 之外改的事。</a:t>
            </a:r>
          </a:p>
          <a:p>
            <a:r>
              <a:t>skills 是替換不是 patch —— 只有替換才能表達「刪掉一個檔案」，所以空物件跟沒給</a:t>
            </a:r>
          </a:p>
          <a:p>
            <a:r>
              <a:t>是兩種不同的請求：空物件的意思是「完全不帶 skill 回答這題」。</a:t>
            </a:r>
          </a:p>
          <a:p>
            <a:r>
              <a:t>完整契約在 backend/docs/agent-server-api.md，app 裡的 Documentation 也讀得到。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如果有人問「這些機制是不是每一個都真的有用」，翻這頁。</a:t>
            </a:r>
          </a:p>
          <a:p>
            <a:r>
              <a:t>論文自己做了 component ablation：拿掉 learning-rate 的形式、拿掉 rejected buffer、</a:t>
            </a:r>
          </a:p>
          <a:p>
            <a:r>
              <a:t>拿掉 epoch 層級的 slow / meta update，各自掉多少分。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這頁是可信度的來源，被問到的時候主動翻出來，不要等人挖。</a:t>
            </a:r>
          </a:p>
          <a:p>
            <a:r>
              <a:t>寫回 agent server 需要 skill 更新 API 加版本控制 / rollback，那是另一個題目。</a:t>
            </a:r>
          </a:p>
          <a:p>
            <a:r>
              <a:t>答案硬編的三層防線：analyst prompt 明文禁止、held-out 驗證切分是結構性防線、</a:t>
            </a:r>
          </a:p>
          <a:p>
            <a:r>
              <a:t>再加上 diff 上的逐字比對告警。</a:t>
            </a:r>
          </a:p>
          <a:p>
            <a:r>
              <a:t>診斷準確度沒被量化驗證這件事要講 —— 它正是決定要不要投入下一階段的判斷依據。</a:t>
            </a:r>
          </a:p>
          <a:p>
            <a:r>
              <a:t>最後一條最重要：整個系統壓在「錯誤可歸因到單一 span，而且改 skill 修得好」這個假設上，</a:t>
            </a:r>
          </a:p>
          <a:p>
            <a:r>
              <a:t>而這個假設有明確的裂縫。caveat 欄位就是為此存在的。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5448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Skill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DD7EE"/>
                </a:solidFill>
                <a:latin typeface="Arial"/>
              </a:rPr>
              <a:t>Where an agent's skills get measured, tried and trained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15468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310128"/>
            <a:ext cx="7863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BDD7EE"/>
                </a:solidFill>
                <a:latin typeface="Arial"/>
              </a:rPr>
              <a:t>Internal sharing · September 2026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BDD7EE"/>
                </a:solidFill>
                <a:latin typeface="Arial"/>
              </a:rPr>
              <a:t>The studio makes them; the Skill Marketplace sells them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Today: the pain, the demo, and the algorithm behind Optimize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99616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5B6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44752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2D2D2D"/>
                </a:solidFill>
                <a:latin typeface="Arial"/>
              </a:rPr>
              <a:t>The pain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77777"/>
                </a:solidFill>
                <a:latin typeface="Arial"/>
              </a:rPr>
              <a:t>The loop, and where it breaks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499616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8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6771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5B6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2D2D2D"/>
                </a:solidFill>
                <a:latin typeface="Arial"/>
              </a:rPr>
              <a:t>Demo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77777"/>
                </a:solidFill>
                <a:latin typeface="Arial"/>
              </a:rPr>
              <a:t>The real thing, in the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267712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35808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5B6"/>
                </a:solidFill>
                <a:latin typeface="Arial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80944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2D2D2D"/>
                </a:solidFill>
                <a:latin typeface="Arial"/>
              </a:rPr>
              <a:t>The algorithm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77777"/>
                </a:solidFill>
                <a:latin typeface="Arial"/>
              </a:rPr>
              <a:t>A skill file as a trainable weight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035808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03903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5B6"/>
                </a:solidFill>
                <a:latin typeface="Arial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49039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2D2D2D"/>
                </a:solidFill>
                <a:latin typeface="Arial"/>
              </a:rPr>
              <a:t>What's next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77777"/>
                </a:solidFill>
                <a:latin typeface="Arial"/>
              </a:rPr>
              <a:t>Cheaper optimization, shorter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803903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2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82296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Interrupt any time; the bigger questions keep until the 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We run the same loop every day, and it breaks in four places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23774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417319"/>
            <a:ext cx="219456" cy="21945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408176"/>
            <a:ext cx="186537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D2D2D"/>
                </a:solidFill>
                <a:latin typeface="Arial"/>
              </a:rPr>
              <a:t>Configure it, run an 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883664"/>
            <a:ext cx="213969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75B6"/>
                </a:solidFill>
                <a:latin typeface="Arial"/>
              </a:rPr>
              <a:t>Breaks: </a:t>
            </a:r>
            <a:r>
              <a:rPr sz="1150" b="0" i="0">
                <a:solidFill>
                  <a:srgbClr val="777777"/>
                </a:solidFill>
                <a:latin typeface="Arial"/>
              </a:rPr>
              <a:t>the config is gone when the run ends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98448"/>
            <a:ext cx="23774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55079" y="1417319"/>
            <a:ext cx="219456" cy="21945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7688" y="1408176"/>
            <a:ext cx="186537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D2D2D"/>
                </a:solidFill>
                <a:latin typeface="Arial"/>
              </a:rPr>
              <a:t>Read the trace, find the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655" y="1883664"/>
            <a:ext cx="213969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75B6"/>
                </a:solidFill>
                <a:latin typeface="Arial"/>
              </a:rPr>
              <a:t>Breaks: </a:t>
            </a:r>
            <a:r>
              <a:rPr sz="1150" b="0" i="0">
                <a:solidFill>
                  <a:srgbClr val="777777"/>
                </a:solidFill>
                <a:latin typeface="Arial"/>
              </a:rPr>
              <a:t>a dozen spans, opened by hand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980944"/>
            <a:ext cx="23774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79" y="3099815"/>
            <a:ext cx="219456" cy="21945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3090672"/>
            <a:ext cx="186537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D2D2D"/>
                </a:solidFill>
                <a:latin typeface="Arial"/>
              </a:rPr>
              <a:t>Edit the skill, test the hunch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5" y="3566160"/>
            <a:ext cx="213969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75B6"/>
                </a:solidFill>
                <a:latin typeface="Arial"/>
              </a:rPr>
              <a:t>Breaks: </a:t>
            </a:r>
            <a:r>
              <a:rPr sz="1150" b="0" i="0">
                <a:solidFill>
                  <a:srgbClr val="777777"/>
                </a:solidFill>
                <a:latin typeface="Arial"/>
              </a:rPr>
              <a:t>only one LLM call is testable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80944"/>
            <a:ext cx="23774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60" y="3099815"/>
            <a:ext cx="219456" cy="21945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090672"/>
            <a:ext cx="186537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D2D2D"/>
                </a:solidFill>
                <a:latin typeface="Arial"/>
              </a:rPr>
              <a:t>A new question occurs to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3566160"/>
            <a:ext cx="213969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75B6"/>
                </a:solidFill>
                <a:latin typeface="Arial"/>
              </a:rPr>
              <a:t>Breaks: </a:t>
            </a:r>
            <a:r>
              <a:rPr sz="1150" b="0" i="0">
                <a:solidFill>
                  <a:srgbClr val="777777"/>
                </a:solidFill>
                <a:latin typeface="Arial"/>
              </a:rPr>
              <a:t>keeping it means copying it by hand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71800" y="1810512"/>
            <a:ext cx="3200400" cy="0"/>
          </a:xfrm>
          <a:prstGeom prst="line">
            <a:avLst/>
          </a:prstGeom>
          <a:ln w="15875">
            <a:solidFill>
              <a:srgbClr val="7777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52360" y="2395728"/>
            <a:ext cx="0" cy="493776"/>
          </a:xfrm>
          <a:prstGeom prst="line">
            <a:avLst/>
          </a:prstGeom>
          <a:ln w="15875">
            <a:solidFill>
              <a:srgbClr val="7777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971800" y="3493008"/>
            <a:ext cx="3200400" cy="0"/>
          </a:xfrm>
          <a:prstGeom prst="line">
            <a:avLst/>
          </a:prstGeom>
          <a:ln w="15875">
            <a:solidFill>
              <a:srgbClr val="7777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91640" y="2395728"/>
            <a:ext cx="0" cy="493776"/>
          </a:xfrm>
          <a:prstGeom prst="line">
            <a:avLst/>
          </a:prstGeom>
          <a:ln w="15875">
            <a:solidFill>
              <a:srgbClr val="7777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154680" y="2103120"/>
            <a:ext cx="2834640" cy="1133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77777"/>
                </a:solidFill>
                <a:latin typeface="Arial"/>
              </a:rPr>
              <a:t>and the loop itself takes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4E79"/>
                </a:solidFill>
                <a:latin typeface="Arial"/>
              </a:rPr>
              <a:t>3 days – 2 weeks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77777"/>
                </a:solidFill>
                <a:latin typeface="Arial"/>
              </a:rPr>
              <a:t>to take a new topic from 0% to above 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82296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Langfuse is still the backbone our traces live in. What is missing is what it does not have and we cannot add to it: the error-localization engine, per-span information of our own, and skill optimization.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Skill Studio repairs all four breaks in one place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89888"/>
            <a:ext cx="4005072" cy="13716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1600200"/>
            <a:ext cx="219456" cy="21945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1591056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75B6"/>
                </a:solidFill>
                <a:latin typeface="Arial"/>
              </a:rPr>
              <a:t>Config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75104"/>
            <a:ext cx="36027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D2D2D"/>
                </a:solidFill>
                <a:latin typeface="Arial"/>
              </a:rPr>
              <a:t>Stored with every run, exactly as it ran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1389888"/>
            <a:ext cx="4005072" cy="13716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82896" y="1600200"/>
            <a:ext cx="219456" cy="21945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93792" y="1591056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75B6"/>
                </a:solidFill>
                <a:latin typeface="Arial"/>
              </a:rPr>
              <a:t>Traces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896" y="1975104"/>
            <a:ext cx="36027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D2D2D"/>
                </a:solidFill>
                <a:latin typeface="Arial"/>
              </a:rPr>
              <a:t>An LLM names the suspect span — a clue, not a verdict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62656"/>
            <a:ext cx="4005072" cy="13716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3172968"/>
            <a:ext cx="219456" cy="21945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163824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75B6"/>
                </a:solidFill>
                <a:latin typeface="Arial"/>
              </a:rPr>
              <a:t>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547872"/>
            <a:ext cx="36027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D2D2D"/>
                </a:solidFill>
                <a:latin typeface="Arial"/>
              </a:rPr>
              <a:t>One question, an editable skill, one button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81728" y="2962656"/>
            <a:ext cx="4005072" cy="13716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82896" y="3172968"/>
            <a:ext cx="219456" cy="21945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3163824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75B6"/>
                </a:solidFill>
                <a:latin typeface="Arial"/>
              </a:rPr>
              <a:t>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2896" y="3547872"/>
            <a:ext cx="36027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D2D2D"/>
                </a:solidFill>
                <a:latin typeface="Arial"/>
              </a:rPr>
              <a:t>Drafted from the trace, then reviewed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The loop itself takes 3 days to 2 weeks, so Optimize automates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89888"/>
            <a:ext cx="8229600" cy="969264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517904"/>
            <a:ext cx="771753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Train a skill like a model: epochs, steps, a learning rate, a validation 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78608"/>
            <a:ext cx="8229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1" i="0">
                <a:solidFill>
                  <a:srgbClr val="2D2D2D"/>
                </a:solidFill>
                <a:latin typeface="Arial"/>
              </a:rPr>
              <a:t>isolated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trains the body; </a:t>
            </a:r>
            <a:r>
              <a:rPr sz="2000" b="1" i="0">
                <a:solidFill>
                  <a:srgbClr val="2D2D2D"/>
                </a:solidFill>
                <a:latin typeface="Arial"/>
              </a:rPr>
              <a:t>routing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trains the description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A chart per step, and a diff of what changed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The output is a zip you install yourself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Runs cancel and resume; four early-stop conditions keep a bad night from burning to the 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Langfuse owns traces; we own what Langfuse cannot express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157984"/>
            <a:ext cx="86868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67712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D2D2D"/>
                </a:solidFill>
                <a:latin typeface="Arial"/>
              </a:rPr>
              <a:t>Browser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2432304"/>
            <a:ext cx="109728" cy="0"/>
          </a:xfrm>
          <a:prstGeom prst="line">
            <a:avLst/>
          </a:prstGeom>
          <a:ln w="15875">
            <a:solidFill>
              <a:srgbClr val="7777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517904" y="1316736"/>
            <a:ext cx="4187952" cy="287121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389888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Skill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39903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77"/>
                </a:solidFill>
                <a:latin typeface="Arial"/>
              </a:rPr>
              <a:t>FastAPI · Postgres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1664208"/>
            <a:ext cx="1280160" cy="310896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719072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75B6"/>
                </a:solidFill>
                <a:latin typeface="Arial"/>
              </a:rPr>
              <a:t>Evaluation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9232" y="1664208"/>
            <a:ext cx="1280160" cy="310896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1719072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75B6"/>
                </a:solidFill>
                <a:latin typeface="Arial"/>
              </a:rPr>
              <a:t>Playground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664208"/>
            <a:ext cx="1280160" cy="310896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2544" y="1719072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75B6"/>
                </a:solidFill>
                <a:latin typeface="Arial"/>
              </a:rPr>
              <a:t>Optimize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2048256"/>
            <a:ext cx="3931920" cy="27432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2103120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Orchestrator — background task, live per-question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377440"/>
            <a:ext cx="3931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77777"/>
                </a:solidFill>
                <a:latin typeface="Arial"/>
              </a:rPr>
              <a:t>Seven swappable seams — fake and real, all fake by default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5920" y="2560320"/>
            <a:ext cx="941832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2601468"/>
            <a:ext cx="9418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Arial"/>
              </a:rPr>
              <a:t>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42616" y="2560320"/>
            <a:ext cx="941832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42616" y="2601468"/>
            <a:ext cx="9418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Arial"/>
              </a:rPr>
              <a:t>Judge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39312" y="2560320"/>
            <a:ext cx="941832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9312" y="2601468"/>
            <a:ext cx="9418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Arial"/>
              </a:rPr>
              <a:t>Trace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36008" y="2560320"/>
            <a:ext cx="941832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8" y="2601468"/>
            <a:ext cx="9418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Arial"/>
              </a:rPr>
              <a:t>Diagnosis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45920" y="2862072"/>
            <a:ext cx="941832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2903220"/>
            <a:ext cx="9418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Arial"/>
              </a:rPr>
              <a:t>Synthesis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42616" y="2862072"/>
            <a:ext cx="941832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42616" y="2903220"/>
            <a:ext cx="9418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Arial"/>
              </a:rPr>
              <a:t>Workspace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39312" y="2862072"/>
            <a:ext cx="941832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9312" y="2903220"/>
            <a:ext cx="9418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Arial"/>
              </a:rPr>
              <a:t>Optimizer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3163824"/>
            <a:ext cx="3931920" cy="93268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55648" y="3236976"/>
            <a:ext cx="3712463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F4E79"/>
                </a:solidFill>
                <a:latin typeface="Arial"/>
              </a:rPr>
              <a:t>Postgres — what Langfuse cannot express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D2D2D"/>
                </a:solidFill>
                <a:latin typeface="Arial"/>
              </a:rPr>
              <a:t>eval sets · stable question ids · runs and their full config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D2D2D"/>
                </a:solidFill>
                <a:latin typeface="Arial"/>
              </a:rPr>
              <a:t>verdicts · diagnoses · every step of an optimization run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77"/>
                </a:solidFill>
                <a:latin typeface="Arial"/>
              </a:rPr>
              <a:t>span input / output / tokens are never copied in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61888" y="1316736"/>
            <a:ext cx="2724912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9904" y="1380744"/>
            <a:ext cx="248716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2D2D"/>
                </a:solidFill>
                <a:latin typeface="Arial"/>
              </a:rPr>
              <a:t>Agent Server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777777"/>
                </a:solidFill>
                <a:latin typeface="Arial"/>
              </a:rPr>
              <a:t>OpenAI chat completions + two fields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61888" y="2322576"/>
            <a:ext cx="272491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9904" y="2386584"/>
            <a:ext cx="2487168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2D2D"/>
                </a:solidFill>
                <a:latin typeface="Arial"/>
              </a:rPr>
              <a:t>Langfuse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777777"/>
                </a:solidFill>
                <a:latin typeface="Arial"/>
              </a:rPr>
              <a:t>the only home of traces and spans;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777777"/>
                </a:solidFill>
                <a:latin typeface="Arial"/>
              </a:rPr>
              <a:t>read live, never copied into our DB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61888" y="3127248"/>
            <a:ext cx="2724912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9904" y="3191256"/>
            <a:ext cx="248716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2D2D"/>
                </a:solidFill>
                <a:latin typeface="Arial"/>
              </a:rPr>
              <a:t>LLM endpoints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777777"/>
                </a:solidFill>
                <a:latin typeface="Arial"/>
              </a:rPr>
              <a:t>judge · diagnosis · synthesis · optimizer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61888" y="3694176"/>
            <a:ext cx="2724912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9904" y="3758184"/>
            <a:ext cx="248716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2D2D"/>
                </a:solidFill>
                <a:latin typeface="Arial"/>
              </a:rPr>
              <a:t>Keycloak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777777"/>
                </a:solidFill>
                <a:latin typeface="Arial"/>
              </a:rPr>
              <a:t>OIDC, optional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5724144" y="1581912"/>
            <a:ext cx="201168" cy="1069848"/>
          </a:xfrm>
          <a:prstGeom prst="line">
            <a:avLst/>
          </a:prstGeom>
          <a:ln w="15875">
            <a:solidFill>
              <a:srgbClr val="7777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724144" y="2679192"/>
            <a:ext cx="201168" cy="9144"/>
          </a:xfrm>
          <a:prstGeom prst="line">
            <a:avLst/>
          </a:prstGeom>
          <a:ln w="15875">
            <a:solidFill>
              <a:srgbClr val="7777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724144" y="2743200"/>
            <a:ext cx="201168" cy="649224"/>
          </a:xfrm>
          <a:prstGeom prst="line">
            <a:avLst/>
          </a:prstGeom>
          <a:ln w="15875">
            <a:solidFill>
              <a:srgbClr val="7777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724144" y="2834640"/>
            <a:ext cx="201168" cy="1106423"/>
          </a:xfrm>
          <a:prstGeom prst="line">
            <a:avLst/>
          </a:prstGeom>
          <a:ln w="15875">
            <a:solidFill>
              <a:srgbClr val="7777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126480" y="1883664"/>
            <a:ext cx="0" cy="402336"/>
          </a:xfrm>
          <a:prstGeom prst="line">
            <a:avLst/>
          </a:prstGeom>
          <a:ln w="15875">
            <a:solidFill>
              <a:srgbClr val="2E75B6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291072" y="1883664"/>
            <a:ext cx="23774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E75B6"/>
                </a:solidFill>
                <a:latin typeface="Arial"/>
              </a:rPr>
              <a:t>correlation id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E75B6"/>
                </a:solidFill>
                <a:latin typeface="Arial"/>
              </a:rPr>
              <a:t>the agent reuses it as its trace 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572000"/>
            <a:ext cx="82296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All seven seams are fake by default: the whole system runs on nothing but Docker, and one real service can be brought up at a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Optimize turns weeks into one night, but not into zero people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89888"/>
            <a:ext cx="4005072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1499616"/>
            <a:ext cx="3566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BEFORE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4E79"/>
                </a:solidFill>
                <a:latin typeface="Arial"/>
              </a:rPr>
              <a:t>3 days – 2 weeks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a person editing, re-running, reading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1728" y="1389888"/>
            <a:ext cx="4005072" cy="1225296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01184" y="1499616"/>
            <a:ext cx="3566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75B6"/>
                </a:solidFill>
                <a:latin typeface="Arial"/>
              </a:rPr>
              <a:t>NOW · isolated mode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4E79"/>
                </a:solidFill>
                <a:latin typeface="Arial"/>
              </a:rPr>
              <a:t>overnight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press it before you leave, read it in the morning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16352"/>
            <a:ext cx="8229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In use on several BOD and PPD topics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The job moves to reviewing a skill that already passed validation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Missing internal domain knowledge stalls accuracy near 80%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188720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DD7EE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81328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395728"/>
            <a:ext cx="2286000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33472"/>
            <a:ext cx="7863840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500" b="0" i="0">
                <a:solidFill>
                  <a:srgbClr val="BDD7EE"/>
                </a:solidFill>
                <a:latin typeface="Arial"/>
              </a:rPr>
              <a:t>Run an eval — every question listed from the first second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500" b="0" i="0">
                <a:solidFill>
                  <a:srgbClr val="BDD7EE"/>
                </a:solidFill>
                <a:latin typeface="Arial"/>
              </a:rPr>
              <a:t>Open a failed one — the diagnosis jumps to the suspect span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500" b="0" i="0">
                <a:solidFill>
                  <a:srgbClr val="BDD7EE"/>
                </a:solidFill>
                <a:latin typeface="Arial"/>
              </a:rPr>
              <a:t>Carry it into the playground — edit the skill, ask again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500" b="0" i="0">
                <a:solidFill>
                  <a:srgbClr val="BDD7EE"/>
                </a:solidFill>
                <a:latin typeface="Arial"/>
              </a:rPr>
              <a:t>Shortlist it — draft the reasoning, make a new eval set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500" b="0" i="0">
                <a:solidFill>
                  <a:srgbClr val="BDD7EE"/>
                </a:solidFill>
                <a:latin typeface="Arial"/>
              </a:rPr>
              <a:t>Open an optimization run — the per-step chart and the diff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188720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DD7EE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81328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SkillOpt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395728"/>
            <a:ext cx="2286000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33472"/>
            <a:ext cx="786384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BDD7EE"/>
                </a:solidFill>
                <a:latin typeface="Arial"/>
              </a:rPr>
              <a:t>Treating a skill file as a trainable weight — the model is never touched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BDD7EE"/>
                </a:solidFill>
                <a:latin typeface="Arial"/>
              </a:rPr>
              <a:t>arXiv:2605.23904 (Microsoft) · our implementation is vendored from microsoft/SkillOpt, with our agent and our judge swapped 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Self-rewriting prompts overfit and forget, so SkillOpt treats the file as a weight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77777"/>
                </a:solidFill>
                <a:latin typeface="Arial"/>
              </a:rPr>
              <a:t>THE USUAL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00784"/>
            <a:ext cx="3931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Overfits to whatever error just happened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Bloats with one-off patches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Quietly erases earlier lessons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1728" y="1335024"/>
            <a:ext cx="4005072" cy="2505456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19472" y="1517904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5B6"/>
                </a:solidFill>
                <a:latin typeface="Arial"/>
              </a:rPr>
              <a:t>SKILLOPT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9472" y="1828800"/>
            <a:ext cx="352958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1F4E79"/>
                </a:solidFill>
                <a:latin typeface="Arial"/>
              </a:rPr>
              <a:t>External, versioned, trainable state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1F4E79"/>
                </a:solidFill>
                <a:latin typeface="Arial"/>
              </a:rPr>
              <a:t>Bounded, controlled steps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1F4E79"/>
                </a:solidFill>
                <a:latin typeface="Arial"/>
              </a:rPr>
              <a:t>Kept only if it passes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82296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That third failure is catastrophic forgetting — in plain text instead of in weights.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Every mechanism has a deep-learning counterpart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3502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77777"/>
                </a:solidFill>
                <a:latin typeface="Arial"/>
              </a:rPr>
              <a:t>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335024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77777"/>
                </a:solidFill>
                <a:latin typeface="Arial"/>
              </a:rPr>
              <a:t>ITS TEXT-SPACE EQUIVALENT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670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D2D2D"/>
                </a:solidFill>
                <a:latin typeface="Arial"/>
              </a:rPr>
              <a:t>Parameters 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73736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The skill file best_skill.md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12848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04288"/>
            <a:ext cx="2670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D2D2D"/>
                </a:solidFill>
                <a:latin typeface="Arial"/>
              </a:rPr>
              <a:t>Gradient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304288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Edit proposals from a minibatch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79776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71216"/>
            <a:ext cx="2670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D2D2D"/>
                </a:solidFill>
                <a:latin typeface="Arial"/>
              </a:rPr>
              <a:t>Learning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87121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The edit budget, cosine 4 →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46704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38144"/>
            <a:ext cx="2670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D2D2D"/>
                </a:solidFill>
                <a:latin typeface="Arial"/>
              </a:rPr>
              <a:t>Validation checkpoint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438144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The blind D_sel gate, strictly greater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136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05072"/>
            <a:ext cx="2670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D2D2D"/>
                </a:solidFill>
                <a:latin typeface="Arial"/>
              </a:rPr>
              <a:t>Momentum / 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005072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The epoch-wise slow 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82296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Each one exists to make the left-hand column work in text space.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Separating the two models makes deployment cost zero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42994"/>
            <a:ext cx="4617720" cy="22015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03520" y="1517904"/>
            <a:ext cx="3383280" cy="2706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1" i="0">
                <a:solidFill>
                  <a:srgbClr val="2D2D2D"/>
                </a:solidFill>
                <a:latin typeface="Arial"/>
              </a:rPr>
              <a:t>Target M</a:t>
            </a:r>
            <a:r>
              <a:rPr sz="1800" b="0" i="0">
                <a:solidFill>
                  <a:srgbClr val="2D2D2D"/>
                </a:solidFill>
                <a:latin typeface="Arial"/>
              </a:rPr>
              <a:t>: frozen weights and prompt; only the skill file changes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1" i="0">
                <a:solidFill>
                  <a:srgbClr val="2D2D2D"/>
                </a:solidFill>
                <a:latin typeface="Arial"/>
              </a:rPr>
              <a:t>Optimizer O</a:t>
            </a:r>
            <a:r>
              <a:rPr sz="1800" b="0" i="0">
                <a:solidFill>
                  <a:srgbClr val="2D2D2D"/>
                </a:solidFill>
                <a:latin typeface="Arial"/>
              </a:rPr>
              <a:t>: offline only, reads trajectories, proposes edits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0" i="0">
                <a:solidFill>
                  <a:srgbClr val="2D2D2D"/>
                </a:solidFill>
                <a:latin typeface="Arial"/>
              </a:rPr>
              <a:t>When training ends, its API spend disappears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Figure 1. Source: SkillOpt, arXiv:2605.23904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One step is five stages, from evidence to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408176"/>
            <a:ext cx="219456" cy="21945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D2D2D"/>
                </a:solidFill>
                <a:latin typeface="Arial"/>
              </a:rPr>
              <a:t>Rollout · split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24481" y="1719072"/>
            <a:ext cx="91440" cy="0"/>
          </a:xfrm>
          <a:prstGeom prst="line">
            <a:avLst/>
          </a:prstGeom>
          <a:ln w="15875">
            <a:solidFill>
              <a:srgbClr val="7777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25065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16505" y="1408176"/>
            <a:ext cx="219456" cy="21945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9929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D2D2D"/>
                </a:solidFill>
                <a:latin typeface="Arial"/>
              </a:rPr>
              <a:t>Reflection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92347" y="1719072"/>
            <a:ext cx="91440" cy="0"/>
          </a:xfrm>
          <a:prstGeom prst="line">
            <a:avLst/>
          </a:prstGeom>
          <a:ln w="15875">
            <a:solidFill>
              <a:srgbClr val="7777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92931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84371" y="1408176"/>
            <a:ext cx="219456" cy="21945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7795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D2D2D"/>
                </a:solidFill>
                <a:latin typeface="Arial"/>
              </a:rPr>
              <a:t>Hierarchical merge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60212" y="1719072"/>
            <a:ext cx="91440" cy="0"/>
          </a:xfrm>
          <a:prstGeom prst="line">
            <a:avLst/>
          </a:prstGeom>
          <a:ln w="15875">
            <a:solidFill>
              <a:srgbClr val="7777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60796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52236" y="1408176"/>
            <a:ext cx="219456" cy="21945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5660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D2D2D"/>
                </a:solidFill>
                <a:latin typeface="Arial"/>
              </a:rPr>
              <a:t>Rank · edit budget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28078" y="1719072"/>
            <a:ext cx="91440" cy="0"/>
          </a:xfrm>
          <a:prstGeom prst="line">
            <a:avLst/>
          </a:prstGeom>
          <a:ln w="15875">
            <a:solidFill>
              <a:srgbClr val="7777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128662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20102" y="1408176"/>
            <a:ext cx="219456" cy="21945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3526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D2D2D"/>
                </a:solidFill>
                <a:latin typeface="Arial"/>
              </a:rPr>
              <a:t>Validation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157984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Arial"/>
              </a:rPr>
              <a:t>pass → best_skill.md</a:t>
            </a:r>
            <a:r>
              <a:rPr sz="1100" b="0" i="0">
                <a:solidFill>
                  <a:srgbClr val="777777"/>
                </a:solidFill>
                <a:latin typeface="Arial"/>
              </a:rPr>
              <a:t>    fail → step discarded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07731" y="2395727"/>
            <a:ext cx="0" cy="237745"/>
          </a:xfrm>
          <a:prstGeom prst="line">
            <a:avLst/>
          </a:prstGeom>
          <a:ln w="12700">
            <a:solidFill>
              <a:srgbClr val="B8BC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904134" y="2633472"/>
            <a:ext cx="5003597" cy="0"/>
          </a:xfrm>
          <a:prstGeom prst="line">
            <a:avLst/>
          </a:prstGeom>
          <a:ln w="12700">
            <a:solidFill>
              <a:srgbClr val="B8BCC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904134" y="2139696"/>
            <a:ext cx="0" cy="493776"/>
          </a:xfrm>
          <a:prstGeom prst="line">
            <a:avLst/>
          </a:prstGeom>
          <a:ln w="12700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087014" y="2414015"/>
            <a:ext cx="46378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77"/>
                </a:solidFill>
                <a:latin typeface="Arial"/>
              </a:rPr>
              <a:t>rejected edits feed the next step's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907792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D2D2D"/>
                </a:solidFill>
                <a:latin typeface="Arial"/>
              </a:rPr>
              <a:t>Gather the evidence, act, then earn it on an exam the optimizer has never seen.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A batch of 40 separates a systematic weakness from one-off noise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408176"/>
            <a:ext cx="219456" cy="21945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D2D2D"/>
                </a:solidFill>
                <a:latin typeface="Arial"/>
              </a:rPr>
              <a:t>Rollout · split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24481" y="1719072"/>
            <a:ext cx="91440" cy="0"/>
          </a:xfrm>
          <a:prstGeom prst="line">
            <a:avLst/>
          </a:prstGeom>
          <a:ln w="15875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25065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B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16505" y="1408176"/>
            <a:ext cx="219456" cy="219456"/>
          </a:xfrm>
          <a:prstGeom prst="ellipse">
            <a:avLst/>
          </a:prstGeom>
          <a:solidFill>
            <a:srgbClr val="B8B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9929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BCC2"/>
                </a:solidFill>
                <a:latin typeface="Arial"/>
              </a:rPr>
              <a:t>Reflection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92347" y="1719072"/>
            <a:ext cx="91440" cy="0"/>
          </a:xfrm>
          <a:prstGeom prst="line">
            <a:avLst/>
          </a:prstGeom>
          <a:ln w="15875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92931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B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84371" y="1408176"/>
            <a:ext cx="219456" cy="219456"/>
          </a:xfrm>
          <a:prstGeom prst="ellipse">
            <a:avLst/>
          </a:prstGeom>
          <a:solidFill>
            <a:srgbClr val="B8B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7795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BCC2"/>
                </a:solidFill>
                <a:latin typeface="Arial"/>
              </a:rPr>
              <a:t>Hierarchical merge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60212" y="1719072"/>
            <a:ext cx="91440" cy="0"/>
          </a:xfrm>
          <a:prstGeom prst="line">
            <a:avLst/>
          </a:prstGeom>
          <a:ln w="15875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60796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B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52236" y="1408176"/>
            <a:ext cx="219456" cy="219456"/>
          </a:xfrm>
          <a:prstGeom prst="ellipse">
            <a:avLst/>
          </a:prstGeom>
          <a:solidFill>
            <a:srgbClr val="B8B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5660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BCC2"/>
                </a:solidFill>
                <a:latin typeface="Arial"/>
              </a:rPr>
              <a:t>Rank · edit budget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28078" y="1719072"/>
            <a:ext cx="91440" cy="0"/>
          </a:xfrm>
          <a:prstGeom prst="line">
            <a:avLst/>
          </a:prstGeom>
          <a:ln w="15875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128662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B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20102" y="1408176"/>
            <a:ext cx="219456" cy="219456"/>
          </a:xfrm>
          <a:prstGeom prst="ellipse">
            <a:avLst/>
          </a:prstGeom>
          <a:solidFill>
            <a:srgbClr val="B8B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3526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BCC2"/>
                </a:solidFill>
                <a:latin typeface="Arial"/>
              </a:rPr>
              <a:t>Validation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157984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Arial"/>
              </a:rPr>
              <a:t>pass → best_skill.md</a:t>
            </a:r>
            <a:r>
              <a:rPr sz="1100" b="0" i="0">
                <a:solidFill>
                  <a:srgbClr val="777777"/>
                </a:solidFill>
                <a:latin typeface="Arial"/>
              </a:rPr>
              <a:t>    fail → step discarded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07731" y="2395727"/>
            <a:ext cx="0" cy="237745"/>
          </a:xfrm>
          <a:prstGeom prst="line">
            <a:avLst/>
          </a:prstGeom>
          <a:ln w="12700">
            <a:solidFill>
              <a:srgbClr val="B8BC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904134" y="2633472"/>
            <a:ext cx="5003597" cy="0"/>
          </a:xfrm>
          <a:prstGeom prst="line">
            <a:avLst/>
          </a:prstGeom>
          <a:ln w="12700">
            <a:solidFill>
              <a:srgbClr val="B8BCC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904134" y="2139696"/>
            <a:ext cx="0" cy="493776"/>
          </a:xfrm>
          <a:prstGeom prst="line">
            <a:avLst/>
          </a:prstGeom>
          <a:ln w="12700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087014" y="2414015"/>
            <a:ext cx="46378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77"/>
                </a:solidFill>
                <a:latin typeface="Arial"/>
              </a:rPr>
              <a:t>rejected edits feed the next step's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852928"/>
            <a:ext cx="8229600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React to one failure and you overfit to its noise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40 samples carry enough statistical weight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Split by score: failures give fixes, successes give reinforcement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Minibatches of 8 find the failures that recur across 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B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408176"/>
            <a:ext cx="219456" cy="219456"/>
          </a:xfrm>
          <a:prstGeom prst="ellipse">
            <a:avLst/>
          </a:prstGeom>
          <a:solidFill>
            <a:srgbClr val="B8B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BCC2"/>
                </a:solidFill>
                <a:latin typeface="Arial"/>
              </a:rPr>
              <a:t>Rollout · split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24481" y="1719072"/>
            <a:ext cx="91440" cy="0"/>
          </a:xfrm>
          <a:prstGeom prst="line">
            <a:avLst/>
          </a:prstGeom>
          <a:ln w="15875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25065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16505" y="1408176"/>
            <a:ext cx="219456" cy="21945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9929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D2D2D"/>
                </a:solidFill>
                <a:latin typeface="Arial"/>
              </a:rPr>
              <a:t>Reflection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92347" y="1719072"/>
            <a:ext cx="91440" cy="0"/>
          </a:xfrm>
          <a:prstGeom prst="line">
            <a:avLst/>
          </a:prstGeom>
          <a:ln w="15875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92931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B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84371" y="1408176"/>
            <a:ext cx="219456" cy="219456"/>
          </a:xfrm>
          <a:prstGeom prst="ellipse">
            <a:avLst/>
          </a:prstGeom>
          <a:solidFill>
            <a:srgbClr val="B8B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7795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BCC2"/>
                </a:solidFill>
                <a:latin typeface="Arial"/>
              </a:rPr>
              <a:t>Hierarchical merge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60212" y="1719072"/>
            <a:ext cx="91440" cy="0"/>
          </a:xfrm>
          <a:prstGeom prst="line">
            <a:avLst/>
          </a:prstGeom>
          <a:ln w="15875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60796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B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52236" y="1408176"/>
            <a:ext cx="219456" cy="219456"/>
          </a:xfrm>
          <a:prstGeom prst="ellipse">
            <a:avLst/>
          </a:prstGeom>
          <a:solidFill>
            <a:srgbClr val="B8B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5660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BCC2"/>
                </a:solidFill>
                <a:latin typeface="Arial"/>
              </a:rPr>
              <a:t>Rank · edit budget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28078" y="1719072"/>
            <a:ext cx="91440" cy="0"/>
          </a:xfrm>
          <a:prstGeom prst="line">
            <a:avLst/>
          </a:prstGeom>
          <a:ln w="15875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128662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B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20102" y="1408176"/>
            <a:ext cx="219456" cy="219456"/>
          </a:xfrm>
          <a:prstGeom prst="ellipse">
            <a:avLst/>
          </a:prstGeom>
          <a:solidFill>
            <a:srgbClr val="B8B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3526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BCC2"/>
                </a:solidFill>
                <a:latin typeface="Arial"/>
              </a:rPr>
              <a:t>Validation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157984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Arial"/>
              </a:rPr>
              <a:t>pass → best_skill.md</a:t>
            </a:r>
            <a:r>
              <a:rPr sz="1100" b="0" i="0">
                <a:solidFill>
                  <a:srgbClr val="777777"/>
                </a:solidFill>
                <a:latin typeface="Arial"/>
              </a:rPr>
              <a:t>    fail → step discarded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07731" y="2395727"/>
            <a:ext cx="0" cy="237745"/>
          </a:xfrm>
          <a:prstGeom prst="line">
            <a:avLst/>
          </a:prstGeom>
          <a:ln w="12700">
            <a:solidFill>
              <a:srgbClr val="B8BC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904134" y="2633472"/>
            <a:ext cx="5003597" cy="0"/>
          </a:xfrm>
          <a:prstGeom prst="line">
            <a:avLst/>
          </a:prstGeom>
          <a:ln w="12700">
            <a:solidFill>
              <a:srgbClr val="B8BCC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904134" y="2139696"/>
            <a:ext cx="0" cy="493776"/>
          </a:xfrm>
          <a:prstGeom prst="line">
            <a:avLst/>
          </a:prstGeom>
          <a:ln w="12700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087014" y="2414015"/>
            <a:ext cx="46378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77"/>
                </a:solidFill>
                <a:latin typeface="Arial"/>
              </a:rPr>
              <a:t>rejected edits feed the next step's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852928"/>
            <a:ext cx="8229600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One trajectory overfits; a whole pool blows the context window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Eight fits, and still forces comparison across tasks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Each analyst returns atomic edits anchored to exact strings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72000"/>
            <a:ext cx="82296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Up to 16 analyst calls run in parallel — Map, then Reduce.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Merging keeps the evidence, and fixing failures always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B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408176"/>
            <a:ext cx="219456" cy="219456"/>
          </a:xfrm>
          <a:prstGeom prst="ellipse">
            <a:avLst/>
          </a:prstGeom>
          <a:solidFill>
            <a:srgbClr val="B8B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BCC2"/>
                </a:solidFill>
                <a:latin typeface="Arial"/>
              </a:rPr>
              <a:t>Rollout · split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24481" y="1719072"/>
            <a:ext cx="91440" cy="0"/>
          </a:xfrm>
          <a:prstGeom prst="line">
            <a:avLst/>
          </a:prstGeom>
          <a:ln w="15875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25065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B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16505" y="1408176"/>
            <a:ext cx="219456" cy="219456"/>
          </a:xfrm>
          <a:prstGeom prst="ellipse">
            <a:avLst/>
          </a:prstGeom>
          <a:solidFill>
            <a:srgbClr val="B8B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9929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BCC2"/>
                </a:solidFill>
                <a:latin typeface="Arial"/>
              </a:rPr>
              <a:t>Reflection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92347" y="1719072"/>
            <a:ext cx="91440" cy="0"/>
          </a:xfrm>
          <a:prstGeom prst="line">
            <a:avLst/>
          </a:prstGeom>
          <a:ln w="15875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92931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84371" y="1408176"/>
            <a:ext cx="219456" cy="21945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7795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D2D2D"/>
                </a:solidFill>
                <a:latin typeface="Arial"/>
              </a:rPr>
              <a:t>Hierarchical merge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60212" y="1719072"/>
            <a:ext cx="91440" cy="0"/>
          </a:xfrm>
          <a:prstGeom prst="line">
            <a:avLst/>
          </a:prstGeom>
          <a:ln w="15875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60796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B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52236" y="1408176"/>
            <a:ext cx="219456" cy="219456"/>
          </a:xfrm>
          <a:prstGeom prst="ellipse">
            <a:avLst/>
          </a:prstGeom>
          <a:solidFill>
            <a:srgbClr val="B8B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5660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BCC2"/>
                </a:solidFill>
                <a:latin typeface="Arial"/>
              </a:rPr>
              <a:t>Rank · edit budget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28078" y="1719072"/>
            <a:ext cx="91440" cy="0"/>
          </a:xfrm>
          <a:prstGeom prst="line">
            <a:avLst/>
          </a:prstGeom>
          <a:ln w="15875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128662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B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20102" y="1408176"/>
            <a:ext cx="219456" cy="219456"/>
          </a:xfrm>
          <a:prstGeom prst="ellipse">
            <a:avLst/>
          </a:prstGeom>
          <a:solidFill>
            <a:srgbClr val="B8B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3526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BCC2"/>
                </a:solidFill>
                <a:latin typeface="Arial"/>
              </a:rPr>
              <a:t>Validation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157984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Arial"/>
              </a:rPr>
              <a:t>pass → best_skill.md</a:t>
            </a:r>
            <a:r>
              <a:rPr sz="1100" b="0" i="0">
                <a:solidFill>
                  <a:srgbClr val="777777"/>
                </a:solidFill>
                <a:latin typeface="Arial"/>
              </a:rPr>
              <a:t>    fail → step discarded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07731" y="2395727"/>
            <a:ext cx="0" cy="237745"/>
          </a:xfrm>
          <a:prstGeom prst="line">
            <a:avLst/>
          </a:prstGeom>
          <a:ln w="12700">
            <a:solidFill>
              <a:srgbClr val="B8BC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904134" y="2633472"/>
            <a:ext cx="5003597" cy="0"/>
          </a:xfrm>
          <a:prstGeom prst="line">
            <a:avLst/>
          </a:prstGeom>
          <a:ln w="12700">
            <a:solidFill>
              <a:srgbClr val="B8BCC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904134" y="2139696"/>
            <a:ext cx="0" cy="493776"/>
          </a:xfrm>
          <a:prstGeom prst="line">
            <a:avLst/>
          </a:prstGeom>
          <a:ln w="12700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087014" y="2414015"/>
            <a:ext cx="46378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77"/>
                </a:solidFill>
                <a:latin typeface="Arial"/>
              </a:rPr>
              <a:t>rejected edits feed the next step's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852928"/>
            <a:ext cx="8229600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Duplicates collapse to the most general wording, carrying support_count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Conflicting edits are resolved here, not later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The edit budget is a learning rate, decaying 4 to 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B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408176"/>
            <a:ext cx="219456" cy="219456"/>
          </a:xfrm>
          <a:prstGeom prst="ellipse">
            <a:avLst/>
          </a:prstGeom>
          <a:solidFill>
            <a:srgbClr val="B8B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BCC2"/>
                </a:solidFill>
                <a:latin typeface="Arial"/>
              </a:rPr>
              <a:t>Rollout · split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24481" y="1719072"/>
            <a:ext cx="91440" cy="0"/>
          </a:xfrm>
          <a:prstGeom prst="line">
            <a:avLst/>
          </a:prstGeom>
          <a:ln w="15875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25065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B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16505" y="1408176"/>
            <a:ext cx="219456" cy="219456"/>
          </a:xfrm>
          <a:prstGeom prst="ellipse">
            <a:avLst/>
          </a:prstGeom>
          <a:solidFill>
            <a:srgbClr val="B8B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9929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BCC2"/>
                </a:solidFill>
                <a:latin typeface="Arial"/>
              </a:rPr>
              <a:t>Reflection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92347" y="1719072"/>
            <a:ext cx="91440" cy="0"/>
          </a:xfrm>
          <a:prstGeom prst="line">
            <a:avLst/>
          </a:prstGeom>
          <a:ln w="15875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92931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B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84371" y="1408176"/>
            <a:ext cx="219456" cy="219456"/>
          </a:xfrm>
          <a:prstGeom prst="ellipse">
            <a:avLst/>
          </a:prstGeom>
          <a:solidFill>
            <a:srgbClr val="B8B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7795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BCC2"/>
                </a:solidFill>
                <a:latin typeface="Arial"/>
              </a:rPr>
              <a:t>Hierarchical merge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60212" y="1719072"/>
            <a:ext cx="91440" cy="0"/>
          </a:xfrm>
          <a:prstGeom prst="line">
            <a:avLst/>
          </a:prstGeom>
          <a:ln w="15875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60796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52236" y="1408176"/>
            <a:ext cx="219456" cy="21945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5660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D2D2D"/>
                </a:solidFill>
                <a:latin typeface="Arial"/>
              </a:rPr>
              <a:t>Rank · edit budget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28078" y="1719072"/>
            <a:ext cx="91440" cy="0"/>
          </a:xfrm>
          <a:prstGeom prst="line">
            <a:avLst/>
          </a:prstGeom>
          <a:ln w="15875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128662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B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20102" y="1408176"/>
            <a:ext cx="219456" cy="219456"/>
          </a:xfrm>
          <a:prstGeom prst="ellipse">
            <a:avLst/>
          </a:prstGeom>
          <a:solidFill>
            <a:srgbClr val="B8B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3526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BCC2"/>
                </a:solidFill>
                <a:latin typeface="Arial"/>
              </a:rPr>
              <a:t>Validation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157984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Arial"/>
              </a:rPr>
              <a:t>pass → best_skill.md</a:t>
            </a:r>
            <a:r>
              <a:rPr sz="1100" b="0" i="0">
                <a:solidFill>
                  <a:srgbClr val="777777"/>
                </a:solidFill>
                <a:latin typeface="Arial"/>
              </a:rPr>
              <a:t>    fail → step discarded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07731" y="2395727"/>
            <a:ext cx="0" cy="237745"/>
          </a:xfrm>
          <a:prstGeom prst="line">
            <a:avLst/>
          </a:prstGeom>
          <a:ln w="12700">
            <a:solidFill>
              <a:srgbClr val="B8BC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904134" y="2633472"/>
            <a:ext cx="5003597" cy="0"/>
          </a:xfrm>
          <a:prstGeom prst="line">
            <a:avLst/>
          </a:prstGeom>
          <a:ln w="12700">
            <a:solidFill>
              <a:srgbClr val="B8BCC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904134" y="2139696"/>
            <a:ext cx="0" cy="493776"/>
          </a:xfrm>
          <a:prstGeom prst="line">
            <a:avLst/>
          </a:prstGeom>
          <a:ln w="12700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087014" y="2414015"/>
            <a:ext cx="46378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77"/>
                </a:solidFill>
                <a:latin typeface="Arial"/>
              </a:rPr>
              <a:t>rejected edits feed the next step's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852928"/>
            <a:ext cx="8229600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Applying too many edits at once is too large a step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Explore early, consolidate late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Ranked by trajectories fixed, gap filled, generality, actionability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Only a strictly higher blind score is written to disk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B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408176"/>
            <a:ext cx="219456" cy="219456"/>
          </a:xfrm>
          <a:prstGeom prst="ellipse">
            <a:avLst/>
          </a:prstGeom>
          <a:solidFill>
            <a:srgbClr val="B8B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BCC2"/>
                </a:solidFill>
                <a:latin typeface="Arial"/>
              </a:rPr>
              <a:t>Rollout · split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24481" y="1719072"/>
            <a:ext cx="91440" cy="0"/>
          </a:xfrm>
          <a:prstGeom prst="line">
            <a:avLst/>
          </a:prstGeom>
          <a:ln w="15875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25065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B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16505" y="1408176"/>
            <a:ext cx="219456" cy="219456"/>
          </a:xfrm>
          <a:prstGeom prst="ellipse">
            <a:avLst/>
          </a:prstGeom>
          <a:solidFill>
            <a:srgbClr val="B8B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9929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BCC2"/>
                </a:solidFill>
                <a:latin typeface="Arial"/>
              </a:rPr>
              <a:t>Reflection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92347" y="1719072"/>
            <a:ext cx="91440" cy="0"/>
          </a:xfrm>
          <a:prstGeom prst="line">
            <a:avLst/>
          </a:prstGeom>
          <a:ln w="15875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92931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B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84371" y="1408176"/>
            <a:ext cx="219456" cy="219456"/>
          </a:xfrm>
          <a:prstGeom prst="ellipse">
            <a:avLst/>
          </a:prstGeom>
          <a:solidFill>
            <a:srgbClr val="B8B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7795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BCC2"/>
                </a:solidFill>
                <a:latin typeface="Arial"/>
              </a:rPr>
              <a:t>Hierarchical merge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60212" y="1719072"/>
            <a:ext cx="91440" cy="0"/>
          </a:xfrm>
          <a:prstGeom prst="line">
            <a:avLst/>
          </a:prstGeom>
          <a:ln w="15875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60796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B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52236" y="1408176"/>
            <a:ext cx="219456" cy="219456"/>
          </a:xfrm>
          <a:prstGeom prst="ellipse">
            <a:avLst/>
          </a:prstGeom>
          <a:solidFill>
            <a:srgbClr val="B8B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5660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BCC2"/>
                </a:solidFill>
                <a:latin typeface="Arial"/>
              </a:rPr>
              <a:t>Rank · edit budget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28078" y="1719072"/>
            <a:ext cx="91440" cy="0"/>
          </a:xfrm>
          <a:prstGeom prst="line">
            <a:avLst/>
          </a:prstGeom>
          <a:ln w="15875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128662" y="1316736"/>
            <a:ext cx="1558137" cy="804672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20102" y="1408176"/>
            <a:ext cx="219456" cy="21945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3526" y="1645919"/>
            <a:ext cx="144840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D2D2D"/>
                </a:solidFill>
                <a:latin typeface="Arial"/>
              </a:rPr>
              <a:t>Validation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157984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Arial"/>
              </a:rPr>
              <a:t>pass → best_skill.md</a:t>
            </a:r>
            <a:r>
              <a:rPr sz="1100" b="0" i="0">
                <a:solidFill>
                  <a:srgbClr val="777777"/>
                </a:solidFill>
                <a:latin typeface="Arial"/>
              </a:rPr>
              <a:t>    fail → step discarded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07731" y="2395727"/>
            <a:ext cx="0" cy="237745"/>
          </a:xfrm>
          <a:prstGeom prst="line">
            <a:avLst/>
          </a:prstGeom>
          <a:ln w="12700">
            <a:solidFill>
              <a:srgbClr val="B8BC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904134" y="2633472"/>
            <a:ext cx="5003597" cy="0"/>
          </a:xfrm>
          <a:prstGeom prst="line">
            <a:avLst/>
          </a:prstGeom>
          <a:ln w="12700">
            <a:solidFill>
              <a:srgbClr val="B8BCC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904134" y="2139696"/>
            <a:ext cx="0" cy="493776"/>
          </a:xfrm>
          <a:prstGeom prst="line">
            <a:avLst/>
          </a:prstGeom>
          <a:ln w="12700">
            <a:solidFill>
              <a:srgbClr val="B8BCC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087014" y="2414015"/>
            <a:ext cx="46378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77"/>
                </a:solidFill>
                <a:latin typeface="Arial"/>
              </a:rPr>
              <a:t>rejected edits feed the next step's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852928"/>
            <a:ext cx="8229600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The optimizer never sees D_sel at all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A tie is discarded, not kept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0" i="0">
                <a:solidFill>
                  <a:srgbClr val="2D2D2D"/>
                </a:solidFill>
                <a:latin typeface="Arial"/>
              </a:rPr>
              <a:t>Rejected edits go into a buffer the next step reads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72000"/>
            <a:ext cx="82296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A hallucinated target string is skipped and logged, never fatal to the run.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An epoch-level loop catches what step-level edits erode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41605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0" i="0">
                <a:solidFill>
                  <a:srgbClr val="2D2D2D"/>
                </a:solidFill>
                <a:latin typeface="Arial"/>
              </a:rPr>
              <a:t>Twenty tasks, old skill against new, one fixed exam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0" i="0">
                <a:solidFill>
                  <a:srgbClr val="2D2D2D"/>
                </a:solidFill>
                <a:latin typeface="Arial"/>
              </a:rPr>
              <a:t>Regressions expose edits that each passed their own gate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0" i="0">
                <a:solidFill>
                  <a:srgbClr val="2D2D2D"/>
                </a:solidFill>
                <a:latin typeface="Arial"/>
              </a:rPr>
              <a:t>The conclusion lands in a protected block — the momentum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0" i="0">
                <a:solidFill>
                  <a:srgbClr val="2D2D2D"/>
                </a:solidFill>
                <a:latin typeface="Arial"/>
              </a:rPr>
              <a:t>The meta skill teaches the optimizer, never the deployed file</a:t>
            </a:r>
          </a:p>
        </p:txBody>
      </p:sp>
      <p:pic>
        <p:nvPicPr>
          <p:cNvPr id="5" name="Picture 4" descr="fig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53461"/>
            <a:ext cx="3840480" cy="20172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572000"/>
            <a:ext cx="82296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Both are wired up in our implementation, and both ship disabled.  ·  Figure 2. Source: SkillOpt, arXiv:2605.23904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What it learns reads like a senior engineer's review comment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ur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195" y="1335024"/>
            <a:ext cx="7057609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749039"/>
            <a:ext cx="82296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D2D2D"/>
                </a:solidFill>
                <a:latin typeface="Arial"/>
              </a:rPr>
              <a:t>Our own developers write rules like these already — it takes them three days to two weeks.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Figure 4. Source: SkillOpt, arXiv:2605.23904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SkillOpt is best or tied-best in all 52 combinations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080" y="1335024"/>
            <a:ext cx="2274558" cy="3035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77840" y="1609344"/>
            <a:ext cx="3108960" cy="2304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0" i="0">
                <a:solidFill>
                  <a:srgbClr val="2D2D2D"/>
                </a:solidFill>
                <a:latin typeface="Arial"/>
              </a:rPr>
              <a:t>+23.5 direct chat, +24.8 Codex, +19.1 Claude Code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0" i="0">
                <a:solidFill>
                  <a:srgbClr val="2D2D2D"/>
                </a:solidFill>
                <a:latin typeface="Arial"/>
              </a:rPr>
              <a:t>One to four accepted edits per benchmark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0" i="0">
                <a:solidFill>
                  <a:srgbClr val="2D2D2D"/>
                </a:solidFill>
                <a:latin typeface="Arial"/>
              </a:rPr>
              <a:t>Ahead of TextGrad, GEPA and EvoSkill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Table 1. Source: SkillOpt, arXiv:2605.23904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A trained skill transfers, and beats training in the target 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b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7312"/>
            <a:ext cx="4846320" cy="25912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77840" y="164592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0" i="0">
                <a:solidFill>
                  <a:srgbClr val="2D2D2D"/>
                </a:solidFill>
                <a:latin typeface="Arial"/>
              </a:rPr>
              <a:t>Codex → Claude Code: 22.1 → 81.8, above the 80.4 trained there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0" i="0">
                <a:solidFill>
                  <a:srgbClr val="2D2D2D"/>
                </a:solidFill>
                <a:latin typeface="Arial"/>
              </a:rPr>
              <a:t>No transferred cell fell below the target's own no-skill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Table 4. Source: SkillOpt, arXiv:2605.23904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The gate selects for generalization, not for overfit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u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4767"/>
            <a:ext cx="5120640" cy="19551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06440" y="1737360"/>
            <a:ext cx="28803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0" i="0">
                <a:solidFill>
                  <a:srgbClr val="2D2D2D"/>
                </a:solidFill>
                <a:latin typeface="Arial"/>
              </a:rPr>
              <a:t>The validation peak lines up with the test peak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0" i="0">
                <a:solidFill>
                  <a:srgbClr val="2D2D2D"/>
                </a:solidFill>
                <a:latin typeface="Arial"/>
              </a:rPr>
              <a:t>Demote the optimizer to the target model and 56–74% of the gain survives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Figure 3. Source: SkillOpt, arXiv:2605.23904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Routing needed a different algorithm, and the oscillation proved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316382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isolated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 i="0">
                <a:solidFill>
                  <a:srgbClr val="2D2D2D"/>
                </a:solidFill>
                <a:latin typeface="Arial"/>
              </a:rPr>
              <a:t>a skill's body — thousands of words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routing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D2D2D"/>
                </a:solidFill>
                <a:latin typeface="Arial"/>
              </a:rPr>
              <a:t>a skill's description — one line of YAML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52544" y="1371600"/>
            <a:ext cx="433425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0" i="0">
                <a:solidFill>
                  <a:srgbClr val="2D2D2D"/>
                </a:solidFill>
                <a:latin typeface="Arial"/>
              </a:rPr>
              <a:t>Edits are mutually exclusive; merge picks without the evidence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0" i="0">
                <a:solidFill>
                  <a:srgbClr val="2D2D2D"/>
                </a:solidFill>
                <a:latin typeface="Arial"/>
              </a:rPr>
              <a:t>Failure and success are one boundary; split, they oscillate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0" i="0">
                <a:solidFill>
                  <a:srgbClr val="2D2D2D"/>
                </a:solidFill>
                <a:latin typeface="Arial"/>
              </a:rPr>
              <a:t>Routing decides before the agent 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isolated is untouched, and is still the paper's algorithm. Full reasoning: backend/docs/routing-optimization.md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Two directions could make this cheaper and shorter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53312"/>
            <a:ext cx="8229600" cy="73152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782726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D2D2D"/>
                </a:solidFill>
                <a:latin typeface="Arial"/>
              </a:rPr>
              <a:t>Training cost today: 0.6–1.1M tokens per point on short tasks, 38–46M on long-context 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9424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5B6"/>
                </a:solidFill>
                <a:latin typeface="Arial"/>
              </a:rPr>
              <a:t>CHEAPER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42032"/>
            <a:ext cx="4005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600" b="1" i="0">
                <a:solidFill>
                  <a:srgbClr val="2D2D2D"/>
                </a:solidFill>
                <a:latin typeface="Arial"/>
              </a:rPr>
              <a:t>SkillOpt-Lite</a:t>
            </a:r>
            <a:r>
              <a:rPr sz="1400" b="0" i="0">
                <a:solidFill>
                  <a:srgbClr val="777777"/>
                </a:solidFill>
                <a:latin typeface="Arial"/>
              </a:rPr>
              <a:t>  arXiv:2607.03451</a:t>
            </a:r>
            <a:r>
              <a:rPr sz="1600" b="0" i="0">
                <a:solidFill>
                  <a:srgbClr val="2D2D2D"/>
                </a:solidFill>
                <a:latin typeface="Arial"/>
              </a:rPr>
              <a:t>
A minimal pipeline; +8.8 and +25.4 on LiveMath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4005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600" b="1" i="0">
                <a:solidFill>
                  <a:srgbClr val="2D2D2D"/>
                </a:solidFill>
                <a:latin typeface="Arial"/>
              </a:rPr>
              <a:t>NPO</a:t>
            </a:r>
            <a:r>
              <a:rPr sz="1400" b="0" i="0">
                <a:solidFill>
                  <a:srgbClr val="777777"/>
                </a:solidFill>
                <a:latin typeface="Arial"/>
              </a:rPr>
              <a:t>  arXiv:2608.27266</a:t>
            </a:r>
            <a:r>
              <a:rPr sz="1600" b="0" i="0">
                <a:solidFill>
                  <a:srgbClr val="2D2D2D"/>
                </a:solidFill>
                <a:latin typeface="Arial"/>
              </a:rPr>
              <a:t>
Matches GEPA with fewer rollouts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2249424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5B6"/>
                </a:solidFill>
                <a:latin typeface="Arial"/>
              </a:rPr>
              <a:t>SHORTER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542032"/>
            <a:ext cx="4005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600" b="1" i="0">
                <a:solidFill>
                  <a:srgbClr val="2D2D2D"/>
                </a:solidFill>
                <a:latin typeface="Arial"/>
              </a:rPr>
              <a:t>SkillZip</a:t>
            </a:r>
            <a:r>
              <a:rPr sz="1400" b="0" i="0">
                <a:solidFill>
                  <a:srgbClr val="777777"/>
                </a:solidFill>
                <a:latin typeface="Arial"/>
              </a:rPr>
              <a:t>  arXiv:2608.11079</a:t>
            </a:r>
            <a:r>
              <a:rPr sz="1600" b="0" i="0">
                <a:solidFill>
                  <a:srgbClr val="2D2D2D"/>
                </a:solidFill>
                <a:latin typeface="Arial"/>
              </a:rPr>
              <a:t>
Evaluation-free compression of a skill that grew by appending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82296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Adjacent work, shaping what we feed it: Skill Self-Play arXiv:2607.22529 · SkillWiki arXiv:2606.16523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3035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DD7EE"/>
                </a:solidFill>
                <a:latin typeface="Arial"/>
              </a:rP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32688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E75B6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298448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Every break in the loop is worth repairing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3969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E75B6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39696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A skill can be trained like a weight, with no model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8094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E75B6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980944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The optimizer does not replace people; people run the last mile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416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BDD7EE"/>
                </a:solidFill>
                <a:latin typeface="Arial"/>
              </a:rPr>
              <a:t>SEED=1 ./scripts/dev.sh brings the whole thing up — all seven seams are fake by default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DD7EE"/>
                </a:solidFill>
                <a:latin typeface="Arial"/>
              </a:rPr>
              <a:t>Design record: backend/docs/spec.md  ·  Routing: backend/docs/routing-optimization.md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-title"/>
          <p:cNvSpPr txBox="1"/>
          <p:nvPr/>
        </p:nvSpPr>
        <p:spPr>
          <a:xfrm>
            <a:off x="457200" y="219456"/>
            <a:ext cx="8229600" cy="8961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255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"/>
            </a:pPr>
            <a:r>
              <a:rPr sz="1300" b="0" i="0">
                <a:solidFill>
                  <a:srgbClr val="2D2D2D"/>
                </a:solidFill>
                <a:latin typeface="Arial"/>
              </a:rPr>
              <a:t>SkillOpt. arXiv:2605.23904, Microsoft. — Figures 1–4 and Tables 1, 3, 4 reproduced in this deck.</a:t>
            </a:r>
          </a:p>
          <a:p>
            <a:pPr algn="l" marL="219456" indent="-219456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"/>
            </a:pPr>
            <a:r>
              <a:rPr sz="1300" b="0" i="0">
                <a:solidFill>
                  <a:srgbClr val="2D2D2D"/>
                </a:solidFill>
                <a:latin typeface="Arial"/>
              </a:rPr>
              <a:t>microsoft/SkillOpt — the implementation vendored into Optimize.</a:t>
            </a:r>
          </a:p>
          <a:p>
            <a:pPr algn="l" marL="219456" indent="-219456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"/>
            </a:pPr>
            <a:r>
              <a:rPr sz="1300" b="0" i="0">
                <a:solidFill>
                  <a:srgbClr val="2D2D2D"/>
                </a:solidFill>
                <a:latin typeface="Arial"/>
              </a:rPr>
              <a:t>SkillOpt-Lite: Better and Faster Agent Self-evolution via One Line of Vibe. arXiv:2607.03451.</a:t>
            </a:r>
          </a:p>
          <a:p>
            <a:pPr algn="l" marL="219456" indent="-219456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"/>
            </a:pPr>
            <a:r>
              <a:rPr sz="1300" b="0" i="0">
                <a:solidFill>
                  <a:srgbClr val="2D2D2D"/>
                </a:solidFill>
                <a:latin typeface="Arial"/>
              </a:rPr>
              <a:t>Naive Prompt Optimization: Rethinking the Need for Complex Prompt Search. arXiv:2608.27266.</a:t>
            </a:r>
          </a:p>
          <a:p>
            <a:pPr algn="l" marL="219456" indent="-219456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"/>
            </a:pPr>
            <a:r>
              <a:rPr sz="1300" b="0" i="0">
                <a:solidFill>
                  <a:srgbClr val="2D2D2D"/>
                </a:solidFill>
                <a:latin typeface="Arial"/>
              </a:rPr>
              <a:t>Skill Self-Play: Pushing the Frontier of LLM Capability with Co-Evolving Skills. arXiv:2607.22529.</a:t>
            </a:r>
          </a:p>
          <a:p>
            <a:pPr algn="l" marL="219456" indent="-219456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"/>
            </a:pPr>
            <a:r>
              <a:rPr sz="1300" b="0" i="0">
                <a:solidFill>
                  <a:srgbClr val="2D2D2D"/>
                </a:solidFill>
                <a:latin typeface="Arial"/>
              </a:rPr>
              <a:t>SkillWiki: A Living Knowledge Infrastructure for Agent Skills. arXiv:2606.16523.</a:t>
            </a:r>
          </a:p>
          <a:p>
            <a:pPr algn="l" marL="219456" indent="-219456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"/>
            </a:pPr>
            <a:r>
              <a:rPr sz="1300" b="0" i="0">
                <a:solidFill>
                  <a:srgbClr val="2D2D2D"/>
                </a:solidFill>
                <a:latin typeface="Arial"/>
              </a:rPr>
              <a:t>SkillZip: Evaluation-Free Skill Compression for Self-Evolving Agents by Discovering Reusable Structure. arXiv:2608.11079.</a:t>
            </a:r>
          </a:p>
          <a:p>
            <a:pPr algn="l" marL="219456" indent="-219456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"/>
            </a:pPr>
            <a:r>
              <a:rPr sz="1300" b="0" i="0">
                <a:solidFill>
                  <a:srgbClr val="2D2D2D"/>
                </a:solidFill>
                <a:latin typeface="Arial"/>
              </a:rPr>
              <a:t>Langfuse — langfuse.com. Trace and span storage; read through its public API.</a:t>
            </a:r>
          </a:p>
          <a:p>
            <a:pPr algn="l" marL="219456" indent="-219456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"/>
            </a:pPr>
            <a:r>
              <a:rPr sz="1300" b="0" i="0">
                <a:solidFill>
                  <a:srgbClr val="2D2D2D"/>
                </a:solidFill>
                <a:latin typeface="Arial"/>
              </a:rPr>
              <a:t>Internal: backend/docs/spec.md · routing-optimization.md · agent-server-api.md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77777"/>
                </a:solidFill>
                <a:latin typeface="Arial"/>
              </a:rPr>
              <a:t>Appendix A</a:t>
            </a:r>
          </a:p>
        </p:txBody>
      </p:sp>
      <p:sp>
        <p:nvSpPr>
          <p:cNvPr id="3" name="action-title"/>
          <p:cNvSpPr txBox="1"/>
          <p:nvPr/>
        </p:nvSpPr>
        <p:spPr>
          <a:xfrm>
            <a:off x="457200" y="585216"/>
            <a:ext cx="8229600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4E79"/>
                </a:solidFill>
                <a:latin typeface="Arial"/>
              </a:rPr>
              <a:t>Your agent server implements two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25296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89888"/>
            <a:ext cx="8229600" cy="192024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7827264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D2D2D"/>
                </a:solidFill>
                <a:latin typeface="Consolas"/>
              </a:rPr>
              <a:t>POST {chat endpoint}      an ordinary OpenAI chat completions call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D2D2D"/>
                </a:solidFill>
                <a:latin typeface="Consolas"/>
              </a:rPr>
              <a:t>  "skill_studio": {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D2D2D"/>
                </a:solidFill>
                <a:latin typeface="Consolas"/>
              </a:rPr>
              <a:t>    "trace_data": { "trace_id": "…" }   ← use this as the Langfuse trace id  (required)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D2D2D"/>
                </a:solidFill>
                <a:latin typeface="Consolas"/>
              </a:rPr>
              <a:t>    "timeout_s": 120                   ← this call's budget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D2D2D"/>
                </a:solidFill>
                <a:latin typeface="Consolas"/>
              </a:rPr>
              <a:t>    "skills": { "billing/SKILL.md": "…" }  ← whole file set, this call only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D2D2D"/>
                </a:solidFill>
                <a:latin typeface="Consolas"/>
              </a:rPr>
              <a:t>  }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D2D2D"/>
                </a:solidFill>
                <a:latin typeface="Consolas"/>
              </a:rPr>
              <a:t>GET  {skills endpoint}    → {"skills": {path: text}, "version": "…"}   (optional)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56432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700" b="0" i="0">
                <a:solidFill>
                  <a:srgbClr val="2D2D2D"/>
                </a:solidFill>
                <a:latin typeface="Arial"/>
              </a:rPr>
              <a:t>Without the correlation id the platform cannot find the trace it just caused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700" b="0" i="0">
                <a:solidFill>
                  <a:srgbClr val="2D2D2D"/>
                </a:solidFill>
                <a:latin typeface="Arial"/>
              </a:rPr>
              <a:t>skills replaces the directory rather than patching it, so {} and absent differ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77777"/>
                </a:solidFill>
                <a:latin typeface="Arial"/>
              </a:rPr>
              <a:t>Appendix B</a:t>
            </a:r>
          </a:p>
        </p:txBody>
      </p:sp>
      <p:sp>
        <p:nvSpPr>
          <p:cNvPr id="3" name="action-title"/>
          <p:cNvSpPr txBox="1"/>
          <p:nvPr/>
        </p:nvSpPr>
        <p:spPr>
          <a:xfrm>
            <a:off x="457200" y="585216"/>
            <a:ext cx="8229600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4E79"/>
                </a:solidFill>
                <a:latin typeface="Arial"/>
              </a:rPr>
              <a:t>Every mechanism pays for itself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25296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abl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87201"/>
            <a:ext cx="5120640" cy="12034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06440" y="1737360"/>
            <a:ext cx="28803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600" b="0" i="0">
                <a:solidFill>
                  <a:srgbClr val="2D2D2D"/>
                </a:solidFill>
                <a:latin typeface="Arial"/>
              </a:rPr>
              <a:t>Each row removes one component and re-measures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600" b="0" i="0">
                <a:solidFill>
                  <a:srgbClr val="2D2D2D"/>
                </a:solidFill>
                <a:latin typeface="Arial"/>
              </a:rPr>
              <a:t>The learning-rate form, the rejected buffer and the epoch-wise update all earn their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Table 3. Source: SkillOpt, arXiv:2605.23904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77777"/>
                </a:solidFill>
                <a:latin typeface="Arial"/>
              </a:rPr>
              <a:t>Appendix C</a:t>
            </a:r>
          </a:p>
        </p:txBody>
      </p:sp>
      <p:sp>
        <p:nvSpPr>
          <p:cNvPr id="3" name="action-title"/>
          <p:cNvSpPr txBox="1"/>
          <p:nvPr/>
        </p:nvSpPr>
        <p:spPr>
          <a:xfrm>
            <a:off x="457200" y="585216"/>
            <a:ext cx="8229600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4E79"/>
                </a:solidFill>
                <a:latin typeface="Arial"/>
              </a:rPr>
              <a:t>What we deliberately did not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25296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82296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0" i="0">
                <a:solidFill>
                  <a:srgbClr val="2D2D2D"/>
                </a:solidFill>
                <a:latin typeface="Arial"/>
              </a:rPr>
              <a:t>Skills are never written back — the output is a zip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0" i="0">
                <a:solidFill>
                  <a:srgbClr val="2D2D2D"/>
                </a:solidFill>
                <a:latin typeface="Arial"/>
              </a:rPr>
              <a:t>Answer hard-coding has three defences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0" i="0">
                <a:solidFill>
                  <a:srgbClr val="2D2D2D"/>
                </a:solidFill>
                <a:latin typeface="Arial"/>
              </a:rPr>
              <a:t>Slow update and meta skill ship disabled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0" i="0">
                <a:solidFill>
                  <a:srgbClr val="2D2D2D"/>
                </a:solidFill>
                <a:latin typeface="Arial"/>
              </a:rPr>
              <a:t>Diagnosis accuracy itself is still unmeasured</a:t>
            </a:r>
          </a:p>
          <a:p>
            <a:pPr algn="l" marL="237744" indent="-237744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800" b="0" i="0">
                <a:solidFill>
                  <a:srgbClr val="2D2D2D"/>
                </a:solidFill>
                <a:latin typeface="Arial"/>
              </a:rPr>
              <a:t>A tool or base-model error cannot be fixed by a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Full list with reasoning: backend/docs/spec.md §15.1 and §16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